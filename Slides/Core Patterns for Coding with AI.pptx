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2"/>
  </p:notesMasterIdLst>
  <p:sldIdLst>
    <p:sldId id="406" r:id="rId2"/>
    <p:sldId id="446" r:id="rId3"/>
    <p:sldId id="651" r:id="rId4"/>
    <p:sldId id="653" r:id="rId5"/>
    <p:sldId id="410" r:id="rId6"/>
    <p:sldId id="430" r:id="rId7"/>
    <p:sldId id="652" r:id="rId8"/>
    <p:sldId id="412" r:id="rId9"/>
    <p:sldId id="409" r:id="rId10"/>
    <p:sldId id="445" r:id="rId11"/>
    <p:sldId id="419" r:id="rId12"/>
    <p:sldId id="421" r:id="rId13"/>
    <p:sldId id="424" r:id="rId14"/>
    <p:sldId id="425" r:id="rId15"/>
    <p:sldId id="426" r:id="rId16"/>
    <p:sldId id="422" r:id="rId17"/>
    <p:sldId id="427" r:id="rId18"/>
    <p:sldId id="428" r:id="rId19"/>
    <p:sldId id="429" r:id="rId20"/>
    <p:sldId id="413" r:id="rId21"/>
    <p:sldId id="418" r:id="rId22"/>
    <p:sldId id="414" r:id="rId23"/>
    <p:sldId id="415" r:id="rId24"/>
    <p:sldId id="416" r:id="rId25"/>
    <p:sldId id="417" r:id="rId26"/>
    <p:sldId id="423" r:id="rId27"/>
    <p:sldId id="431" r:id="rId28"/>
    <p:sldId id="432" r:id="rId29"/>
    <p:sldId id="433" r:id="rId30"/>
    <p:sldId id="434" r:id="rId31"/>
    <p:sldId id="435" r:id="rId32"/>
    <p:sldId id="436" r:id="rId33"/>
    <p:sldId id="437" r:id="rId34"/>
    <p:sldId id="438" r:id="rId35"/>
    <p:sldId id="439" r:id="rId36"/>
    <p:sldId id="440" r:id="rId37"/>
    <p:sldId id="441" r:id="rId38"/>
    <p:sldId id="442" r:id="rId39"/>
    <p:sldId id="443" r:id="rId40"/>
    <p:sldId id="444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71DC70A-D524-3A4B-A0F9-F4617108E011}">
          <p14:sldIdLst>
            <p14:sldId id="406"/>
            <p14:sldId id="446"/>
          </p14:sldIdLst>
        </p14:section>
        <p14:section name="Context" id="{BAB000E7-80B1-704A-A0C5-450F92E3F251}">
          <p14:sldIdLst>
            <p14:sldId id="651"/>
            <p14:sldId id="653"/>
            <p14:sldId id="410"/>
            <p14:sldId id="430"/>
            <p14:sldId id="652"/>
            <p14:sldId id="412"/>
            <p14:sldId id="409"/>
            <p14:sldId id="445"/>
            <p14:sldId id="419"/>
            <p14:sldId id="421"/>
            <p14:sldId id="424"/>
            <p14:sldId id="425"/>
            <p14:sldId id="426"/>
            <p14:sldId id="422"/>
            <p14:sldId id="427"/>
            <p14:sldId id="428"/>
            <p14:sldId id="429"/>
          </p14:sldIdLst>
        </p14:section>
        <p14:section name="Focus" id="{6B4D6D1F-5799-A14A-9FA6-E5C32431763E}">
          <p14:sldIdLst>
            <p14:sldId id="413"/>
            <p14:sldId id="418"/>
          </p14:sldIdLst>
        </p14:section>
        <p14:section name="Noise" id="{CEA63F78-168F-AB43-B239-21C6524ECBFB}">
          <p14:sldIdLst>
            <p14:sldId id="414"/>
          </p14:sldIdLst>
        </p14:section>
        <p14:section name="Non-Determinism" id="{A4346C11-1A94-5943-93C2-38DD8C850FDB}">
          <p14:sldIdLst>
            <p14:sldId id="415"/>
          </p14:sldIdLst>
        </p14:section>
        <p14:section name="Complexity" id="{82D7DA53-C9B3-604E-9780-198E3A262E90}">
          <p14:sldIdLst>
            <p14:sldId id="416"/>
          </p14:sldIdLst>
        </p14:section>
        <p14:section name="Thought Partner" id="{F1712C9A-310F-0B43-8042-6EC8C3D964FC}">
          <p14:sldIdLst>
            <p14:sldId id="417"/>
          </p14:sldIdLst>
        </p14:section>
        <p14:section name="Drafts" id="{C06076C2-4920-1D4C-81D2-A050883B17C5}">
          <p14:sldIdLst>
            <p14:sldId id="423"/>
            <p14:sldId id="431"/>
            <p14:sldId id="432"/>
            <p14:sldId id="433"/>
            <p14:sldId id="434"/>
            <p14:sldId id="435"/>
            <p14:sldId id="436"/>
            <p14:sldId id="437"/>
            <p14:sldId id="438"/>
            <p14:sldId id="439"/>
            <p14:sldId id="440"/>
            <p14:sldId id="441"/>
            <p14:sldId id="442"/>
            <p14:sldId id="443"/>
            <p14:sldId id="44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C3349F8-DC01-FE7D-F7CD-AC66C053D11B}" name="Kesseler, Lada" initials="LK" userId="S::LADA.KESSELER1@T-MOBILE.COM::562dffe2-bbd3-4c93-8d98-a417671b7e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FF0000"/>
    <a:srgbClr val="FFFF00"/>
    <a:srgbClr val="172C51"/>
    <a:srgbClr val="548235"/>
    <a:srgbClr val="4472C4"/>
    <a:srgbClr val="7030A0"/>
    <a:srgbClr val="C00000"/>
    <a:srgbClr val="FF40FF"/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053"/>
    <p:restoredTop sz="92806"/>
  </p:normalViewPr>
  <p:slideViewPr>
    <p:cSldViewPr snapToGrid="0">
      <p:cViewPr varScale="1">
        <p:scale>
          <a:sx n="122" d="100"/>
          <a:sy n="122" d="100"/>
        </p:scale>
        <p:origin x="1272" y="48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microsoft.com/office/2018/10/relationships/authors" Target="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701875-5BC7-1E49-AF4C-96F7D9E7474C}" type="datetimeFigureOut">
              <a:rPr lang="en-US" smtClean="0"/>
              <a:t>2/16/26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5BBC2B-72B0-2542-8213-717906F3F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1280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70639-DA34-05EE-E783-CB1BAE16F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73D2E2-8ADC-6359-00D2-E80DB4566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949908-A01F-F021-2D48-C21782F8AF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2D3FA6-5BA7-4D11-B479-AAED57DD04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5BBC2B-72B0-2542-8213-717906F3F32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1852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BA562-503F-0C19-53AB-2E9EFB045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61CA17-2B2B-4289-C0DD-04D2E453AF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EC94EB-F9C3-7A70-E128-5FD7532F31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382D62-70D1-A008-65E0-C7E5EF52FC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5BBC2B-72B0-2542-8213-717906F3F32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9821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5BBC2B-72B0-2542-8213-717906F3F32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7109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3FC9EF-B74E-18A5-D071-28CF4ED8E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538147-9B85-C5CB-CBE4-9DFC2870DA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3C08BF-3F12-584E-1375-04F5E948F7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CDB57F-1B95-A5D8-2961-D3ECED550A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5BBC2B-72B0-2542-8213-717906F3F32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508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5950B-4EE3-4DAA-7F5A-A87DD7D66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9676F7-CA71-A5AF-DD99-7471D1B857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8AB590-BA6E-9E71-EF93-665BBA0D74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006EDE-FA39-75E5-0E72-5F0693736A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5BBC2B-72B0-2542-8213-717906F3F32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2769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C67C8-48AD-6905-AEBC-E65BF6940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CC029F-0C19-4AE6-74B3-57AB7BB407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5F6152-9663-D258-8AAF-3F4A2256A0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4C16E4-0AAD-1F5B-B8A4-50744C9E3E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5BBC2B-72B0-2542-8213-717906F3F32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31737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A4842-F41D-82A3-41B6-110152FA7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E49B70-1232-A3BF-2176-B7E8CC7999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F967D0-9BE8-72C3-C761-B3D2E44350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711ADC-6F43-19A3-28FD-681F984B2F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5BBC2B-72B0-2542-8213-717906F3F32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5057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8058B-0B2E-F532-68DD-C3EC5F6F3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F4175D-9204-3F8A-73FA-375BA7ECF2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DE9890-7BC3-1981-751F-7870101168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FB8A53-1B26-6C15-4AF1-501006C94F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5BBC2B-72B0-2542-8213-717906F3F32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4879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D868A-EE50-910A-C19A-4661E50F1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BDADD8-8D04-B4A4-9278-3CBEBD6154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6955AF-94AA-845E-ABDB-6FF62BE3E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4CDE79-64FA-9303-DBA3-71DCF50D63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5BBC2B-72B0-2542-8213-717906F3F32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43364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A96621-4267-D706-8C2A-9935BC3A3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6BF369-F7AF-5D3C-B960-C94714353F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B5F1CD-6DC9-EE42-7AD8-54157F070B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79E593-0FF9-7CF1-ED7C-3748AABE4E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5BBC2B-72B0-2542-8213-717906F3F32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90821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3A222-E9A5-86A7-CA5B-F1454F6B14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B1BB04-B26C-8367-402D-4A40396915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D93DBA-9855-EACB-E3EA-FE670C07E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66788-8C42-AF46-A5E8-A812D6157D5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478685-B7B4-5009-6E90-7E2CF4513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6BC47A-68B5-00AD-AEEE-26E2ED3D5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548BB-BFC1-7E4C-9C86-6066836D2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717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8FEFC9-B55E-5926-78C0-FC9855DA6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74DA0E-AB04-8E47-B48C-8A7B3C3F9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F2753F-435D-F327-8496-AD8347F29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66788-8C42-AF46-A5E8-A812D6157D5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8D3F2D-9199-3368-9CE9-EC96BE10C5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DB0056-2C57-6C55-3947-37958B003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548BB-BFC1-7E4C-9C86-6066836D2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403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B5455-7303-9CA9-7B04-4E40CB176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16D6EC-F9A0-CD31-C69A-7C158021F0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2E3037-4B77-9163-84F9-8540215BBD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66788-8C42-AF46-A5E8-A812D6157D5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D90846-B51D-A53B-43E8-F806F17B7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830A17-DDA1-AD7B-2BC1-4C8892366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548BB-BFC1-7E4C-9C86-6066836D2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8093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E6134-F614-D38A-F20D-0259B2A95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42C2E6-5655-C31D-6178-7A2D1E6284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1076EA-FFF5-783B-3BB6-E175FF6938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8247BC-4ED2-CAB9-E63D-18EA49A469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66788-8C42-AF46-A5E8-A812D6157D5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92A840-F54E-6BC7-2EE8-7E424F658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862C0C-4E72-01E0-8854-5BF057DD5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548BB-BFC1-7E4C-9C86-6066836D2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63465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D0BA3-D4FA-FCC7-0BC4-8B4767357A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01ABB5-08A4-37BB-2D89-EC89CD88AC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A6BD57-2E7B-4CF5-ED44-C8CFD885B8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065104-D897-2178-DD49-D8CE5D57EE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8A85B65-907C-3DA3-80B4-811AE00BA3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4643E83-8AFF-4916-8259-B0351DC34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66788-8C42-AF46-A5E8-A812D6157D5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E34F1F9-83C0-4923-9583-5C7C1C02E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EECAFC-CB83-63FF-1987-F4A9D7CF0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548BB-BFC1-7E4C-9C86-6066836D2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9393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8DE21-8D34-F3B9-6F30-8D5FD6E30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349365-1099-4AA3-A1EA-57F6B9527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66788-8C42-AF46-A5E8-A812D6157D5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4BD4C7-287F-D3F4-80DD-412067E0D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AF2EF0-DD70-3CB4-DB8D-89C795C2C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548BB-BFC1-7E4C-9C86-6066836D2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5881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0C957D-EE5D-2F57-0ADB-D3E1C3C47D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66788-8C42-AF46-A5E8-A812D6157D5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23C946-8CA1-0D0E-E6A6-E49ABD878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240142-C5EF-C514-7B54-73C8A01CC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548BB-BFC1-7E4C-9C86-6066836D2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923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92A68-8CB4-DF2E-29D4-3951B476F3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A11215-2760-3831-848B-AE12C75EA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213F4F-2F5A-0C7B-214A-FDFD7E2976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20DD07-76C5-7182-9197-733B85A71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66788-8C42-AF46-A5E8-A812D6157D5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9123C9-9448-068F-9E42-0FF9BF268E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559215-7A38-9D83-6C1B-ABBEB5D8F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548BB-BFC1-7E4C-9C86-6066836D2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1602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6806B1-FFD0-4D8A-06EF-65B9D9249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2FFD9DA-2B0A-8D9B-40C4-906F32B89D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CC0DD3-0689-FB3B-9F40-966CEE3354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42492F-E8B8-BCF3-3F36-6070D070B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66788-8C42-AF46-A5E8-A812D6157D5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FCAE27-A74C-E28B-135C-33A03B18D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B3BB6B-C15C-C5BB-E310-AE57625FE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548BB-BFC1-7E4C-9C86-6066836D2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5374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75BE8-BB4F-A59C-CC03-572746213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6268F9-F24D-CC96-DFDF-96BA503031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EEAD1E-AF18-1BE5-864D-E8E83A7F2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66788-8C42-AF46-A5E8-A812D6157D5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8AF4E-AC35-6763-4FD5-E28BC7938A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62C237-91AD-ACF7-1E78-E68710257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548BB-BFC1-7E4C-9C86-6066836D2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9773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D386549-9272-96F4-733B-023F29D8C7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96DD84-F5D0-A6D4-FD45-84596E01E0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7BDB83-4A42-E260-36E8-A5F0422E4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66788-8C42-AF46-A5E8-A812D6157D5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44FA91-B94E-A673-2B58-96ECDBD92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CA8872-9098-E8CE-487A-B595DAC04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548BB-BFC1-7E4C-9C86-6066836D2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4209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F03EAAD-62D6-410D-9203-F6229C9B4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03E65B-FF39-116F-BDFC-441DF01070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2CB7FD-0A76-2F45-5989-8D14B8D1B5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A66788-8C42-AF46-A5E8-A812D6157D58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7D80F5-E6C7-6937-F050-755568C143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88F8ED-30C0-355C-F1F9-85F8EF89F1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A548BB-BFC1-7E4C-9C86-6066836D2D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935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15F216-AE6C-6846-E057-6845FA9035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A0591AF-87FF-08B9-1148-7633B9B294BE}"/>
              </a:ext>
            </a:extLst>
          </p:cNvPr>
          <p:cNvSpPr txBox="1"/>
          <p:nvPr/>
        </p:nvSpPr>
        <p:spPr>
          <a:xfrm>
            <a:off x="199672" y="5251381"/>
            <a:ext cx="684193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/>
              <a:t>Core Patterns for Coding with AI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F7FD4F-8CDC-7F58-DB0F-204636A73D11}"/>
              </a:ext>
            </a:extLst>
          </p:cNvPr>
          <p:cNvSpPr txBox="1"/>
          <p:nvPr/>
        </p:nvSpPr>
        <p:spPr>
          <a:xfrm>
            <a:off x="199672" y="6095192"/>
            <a:ext cx="19235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k Free" panose="020F0502020204030204" pitchFamily="34" charset="0"/>
                <a:ea typeface="Heiti TC Medium" pitchFamily="2" charset="-128"/>
              </a:rPr>
              <a:t>Lada Kesseler</a:t>
            </a:r>
          </a:p>
        </p:txBody>
      </p:sp>
    </p:spTree>
    <p:extLst>
      <p:ext uri="{BB962C8B-B14F-4D97-AF65-F5344CB8AC3E}">
        <p14:creationId xmlns:p14="http://schemas.microsoft.com/office/powerpoint/2010/main" val="28598632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F851357-4F66-A784-6B3A-1BB4D7B10BBA}"/>
              </a:ext>
            </a:extLst>
          </p:cNvPr>
          <p:cNvSpPr txBox="1"/>
          <p:nvPr/>
        </p:nvSpPr>
        <p:spPr>
          <a:xfrm>
            <a:off x="756745" y="641131"/>
            <a:ext cx="24304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Bad Experiences with AI</a:t>
            </a:r>
          </a:p>
        </p:txBody>
      </p:sp>
      <p:pic>
        <p:nvPicPr>
          <p:cNvPr id="5" name="Picture 2" descr="AI Will Surpass Human Brains Once We Crack the 'Neural Code ...">
            <a:extLst>
              <a:ext uri="{FF2B5EF4-FFF2-40B4-BE49-F238E27FC236}">
                <a16:creationId xmlns:a16="http://schemas.microsoft.com/office/drawing/2014/main" id="{D6F40A61-564F-662A-5ACE-F8942D8917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8800" y="1334700"/>
            <a:ext cx="3106985" cy="2094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3535721-D62E-6CD4-4B51-EDE69ABC8E74}"/>
              </a:ext>
            </a:extLst>
          </p:cNvPr>
          <p:cNvSpPr/>
          <p:nvPr/>
        </p:nvSpPr>
        <p:spPr>
          <a:xfrm>
            <a:off x="2142071" y="4502148"/>
            <a:ext cx="2480441" cy="94635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prompt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C6BAA8BA-1FB1-63A9-FE7F-9C1EAE1FF142}"/>
              </a:ext>
            </a:extLst>
          </p:cNvPr>
          <p:cNvSpPr/>
          <p:nvPr/>
        </p:nvSpPr>
        <p:spPr>
          <a:xfrm rot="1451758">
            <a:off x="6047525" y="3965573"/>
            <a:ext cx="538385" cy="461473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ross 8">
            <a:extLst>
              <a:ext uri="{FF2B5EF4-FFF2-40B4-BE49-F238E27FC236}">
                <a16:creationId xmlns:a16="http://schemas.microsoft.com/office/drawing/2014/main" id="{98011602-56AD-8492-FD63-D8B32B380AC0}"/>
              </a:ext>
            </a:extLst>
          </p:cNvPr>
          <p:cNvSpPr/>
          <p:nvPr/>
        </p:nvSpPr>
        <p:spPr>
          <a:xfrm>
            <a:off x="3143393" y="3734836"/>
            <a:ext cx="477795" cy="461474"/>
          </a:xfrm>
          <a:prstGeom prst="plus">
            <a:avLst>
              <a:gd name="adj" fmla="val 3704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 descr="A poop with flies around it&#10;&#10;AI-generated content may be incorrect.">
            <a:extLst>
              <a:ext uri="{FF2B5EF4-FFF2-40B4-BE49-F238E27FC236}">
                <a16:creationId xmlns:a16="http://schemas.microsoft.com/office/drawing/2014/main" id="{D0084942-6648-520E-0C0B-F7DAA3BE6E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7652" y="3699085"/>
            <a:ext cx="2197100" cy="2070100"/>
          </a:xfrm>
          <a:prstGeom prst="rect">
            <a:avLst/>
          </a:prstGeom>
        </p:spPr>
      </p:pic>
      <p:pic>
        <p:nvPicPr>
          <p:cNvPr id="13" name="Picture 12" descr="A yellow sun with a smiling face&#10;&#10;AI-generated content may be incorrect.">
            <a:extLst>
              <a:ext uri="{FF2B5EF4-FFF2-40B4-BE49-F238E27FC236}">
                <a16:creationId xmlns:a16="http://schemas.microsoft.com/office/drawing/2014/main" id="{7B31F8A3-69BF-FB38-8954-6ED97FD265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7652" y="1262291"/>
            <a:ext cx="2334071" cy="2202866"/>
          </a:xfrm>
          <a:prstGeom prst="rect">
            <a:avLst/>
          </a:prstGeom>
        </p:spPr>
      </p:pic>
      <p:sp>
        <p:nvSpPr>
          <p:cNvPr id="14" name="Right Arrow 13">
            <a:extLst>
              <a:ext uri="{FF2B5EF4-FFF2-40B4-BE49-F238E27FC236}">
                <a16:creationId xmlns:a16="http://schemas.microsoft.com/office/drawing/2014/main" id="{B535FF65-35DE-3E71-8312-0C4628E2FE89}"/>
              </a:ext>
            </a:extLst>
          </p:cNvPr>
          <p:cNvSpPr/>
          <p:nvPr/>
        </p:nvSpPr>
        <p:spPr>
          <a:xfrm rot="20147394">
            <a:off x="6047526" y="2664385"/>
            <a:ext cx="538385" cy="461473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6930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1" animBg="1"/>
      <p:bldP spid="1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44785-EDF9-6D56-5B8D-D75610C50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D892E2-B3F6-9ABA-58CE-D607B6A4B208}"/>
              </a:ext>
            </a:extLst>
          </p:cNvPr>
          <p:cNvSpPr txBox="1"/>
          <p:nvPr/>
        </p:nvSpPr>
        <p:spPr>
          <a:xfrm>
            <a:off x="4835366" y="3044279"/>
            <a:ext cx="252126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/>
              <a:t>1. Context</a:t>
            </a:r>
            <a:endParaRPr lang="en-US" sz="44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E882831-2C06-7E3E-4AA3-4CE0FAF58776}"/>
              </a:ext>
            </a:extLst>
          </p:cNvPr>
          <p:cNvCxnSpPr/>
          <p:nvPr/>
        </p:nvCxnSpPr>
        <p:spPr>
          <a:xfrm>
            <a:off x="0" y="2630078"/>
            <a:ext cx="1219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3D34965-8715-0804-4EB9-4F63DAA90729}"/>
              </a:ext>
            </a:extLst>
          </p:cNvPr>
          <p:cNvCxnSpPr/>
          <p:nvPr/>
        </p:nvCxnSpPr>
        <p:spPr>
          <a:xfrm>
            <a:off x="0" y="4137267"/>
            <a:ext cx="1219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26589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FCA25-1098-0564-01D3-5F6FB3A68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 descr="AI Will Surpass Human Brains Once We Crack the 'Neural Code ...">
            <a:extLst>
              <a:ext uri="{FF2B5EF4-FFF2-40B4-BE49-F238E27FC236}">
                <a16:creationId xmlns:a16="http://schemas.microsoft.com/office/drawing/2014/main" id="{CD348436-B56D-C261-0148-4EF606D39D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44717" y="725100"/>
            <a:ext cx="3106985" cy="2094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87B100D-0C31-1C59-13F2-CD8B06FA9EC9}"/>
              </a:ext>
            </a:extLst>
          </p:cNvPr>
          <p:cNvSpPr/>
          <p:nvPr/>
        </p:nvSpPr>
        <p:spPr>
          <a:xfrm>
            <a:off x="1744717" y="3009678"/>
            <a:ext cx="3106985" cy="332805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context</a:t>
            </a:r>
          </a:p>
        </p:txBody>
      </p:sp>
    </p:spTree>
    <p:extLst>
      <p:ext uri="{BB962C8B-B14F-4D97-AF65-F5344CB8AC3E}">
        <p14:creationId xmlns:p14="http://schemas.microsoft.com/office/powerpoint/2010/main" val="21801514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B02FF77-7A65-35E9-005A-E7F3B97D772A}"/>
              </a:ext>
            </a:extLst>
          </p:cNvPr>
          <p:cNvSpPr/>
          <p:nvPr/>
        </p:nvSpPr>
        <p:spPr>
          <a:xfrm>
            <a:off x="8291383" y="667264"/>
            <a:ext cx="3354079" cy="17396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9F73FF-2807-F664-F70C-4D3A2B65C27A}"/>
              </a:ext>
            </a:extLst>
          </p:cNvPr>
          <p:cNvSpPr/>
          <p:nvPr/>
        </p:nvSpPr>
        <p:spPr>
          <a:xfrm>
            <a:off x="1072185" y="2759831"/>
            <a:ext cx="3106985" cy="352255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context</a:t>
            </a:r>
          </a:p>
        </p:txBody>
      </p:sp>
      <p:pic>
        <p:nvPicPr>
          <p:cNvPr id="1026" name="Picture 2" descr="AI Will Surpass Human Brains Once We Crack the 'Neural Code ...">
            <a:extLst>
              <a:ext uri="{FF2B5EF4-FFF2-40B4-BE49-F238E27FC236}">
                <a16:creationId xmlns:a16="http://schemas.microsoft.com/office/drawing/2014/main" id="{3F88192C-DE11-C273-26FB-D1FF02C01C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2184" y="530305"/>
            <a:ext cx="3106985" cy="2094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F9CAB67-2F04-6BE3-C242-1456234903B2}"/>
              </a:ext>
            </a:extLst>
          </p:cNvPr>
          <p:cNvSpPr/>
          <p:nvPr/>
        </p:nvSpPr>
        <p:spPr>
          <a:xfrm>
            <a:off x="8710243" y="1563912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C8FD0C-13B0-175F-F835-78AD600FFC83}"/>
              </a:ext>
            </a:extLst>
          </p:cNvPr>
          <p:cNvSpPr/>
          <p:nvPr/>
        </p:nvSpPr>
        <p:spPr>
          <a:xfrm>
            <a:off x="9632883" y="1563912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62612DF-DDB6-D8A8-3D22-05B5B90412D1}"/>
              </a:ext>
            </a:extLst>
          </p:cNvPr>
          <p:cNvSpPr/>
          <p:nvPr/>
        </p:nvSpPr>
        <p:spPr>
          <a:xfrm>
            <a:off x="10555523" y="1563912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05B1892-0813-2F8E-DD3B-8F38A94FCEAB}"/>
              </a:ext>
            </a:extLst>
          </p:cNvPr>
          <p:cNvSpPr txBox="1"/>
          <p:nvPr/>
        </p:nvSpPr>
        <p:spPr>
          <a:xfrm>
            <a:off x="8962038" y="826124"/>
            <a:ext cx="20863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Relevant Knowledge</a:t>
            </a:r>
          </a:p>
        </p:txBody>
      </p:sp>
    </p:spTree>
    <p:extLst>
      <p:ext uri="{BB962C8B-B14F-4D97-AF65-F5344CB8AC3E}">
        <p14:creationId xmlns:p14="http://schemas.microsoft.com/office/powerpoint/2010/main" val="4313581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FBED9-81F8-9EAA-AA7D-3A45F540D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22DA563-F1BD-4D94-9D4F-75C1975DE1D2}"/>
              </a:ext>
            </a:extLst>
          </p:cNvPr>
          <p:cNvSpPr/>
          <p:nvPr/>
        </p:nvSpPr>
        <p:spPr>
          <a:xfrm>
            <a:off x="3946926" y="2437539"/>
            <a:ext cx="2261287" cy="302122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context</a:t>
            </a:r>
          </a:p>
        </p:txBody>
      </p:sp>
      <p:pic>
        <p:nvPicPr>
          <p:cNvPr id="1026" name="Picture 2" descr="AI Will Surpass Human Brains Once We Crack the 'Neural Code ...">
            <a:extLst>
              <a:ext uri="{FF2B5EF4-FFF2-40B4-BE49-F238E27FC236}">
                <a16:creationId xmlns:a16="http://schemas.microsoft.com/office/drawing/2014/main" id="{5B39132C-9FBA-9BFF-EA65-4A643A1337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4078" y="105032"/>
            <a:ext cx="3106985" cy="2094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78B097E-80DF-2F0F-56B3-F32F5A654F7C}"/>
              </a:ext>
            </a:extLst>
          </p:cNvPr>
          <p:cNvSpPr txBox="1"/>
          <p:nvPr/>
        </p:nvSpPr>
        <p:spPr>
          <a:xfrm>
            <a:off x="1075038" y="4831492"/>
            <a:ext cx="27350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	Customized brain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C9AF400-F9E5-2020-9D5C-C2C232620185}"/>
              </a:ext>
            </a:extLst>
          </p:cNvPr>
          <p:cNvCxnSpPr/>
          <p:nvPr/>
        </p:nvCxnSpPr>
        <p:spPr>
          <a:xfrm>
            <a:off x="7895968" y="3429000"/>
            <a:ext cx="0" cy="10194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BB05931-02E1-7B31-EDAE-BC40C09ACB0B}"/>
              </a:ext>
            </a:extLst>
          </p:cNvPr>
          <p:cNvCxnSpPr/>
          <p:nvPr/>
        </p:nvCxnSpPr>
        <p:spPr>
          <a:xfrm>
            <a:off x="10124303" y="3331175"/>
            <a:ext cx="0" cy="10194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999646A-28DE-DB20-3354-3F85118FD7C2}"/>
              </a:ext>
            </a:extLst>
          </p:cNvPr>
          <p:cNvCxnSpPr>
            <a:cxnSpLocks/>
          </p:cNvCxnSpPr>
          <p:nvPr/>
        </p:nvCxnSpPr>
        <p:spPr>
          <a:xfrm flipH="1">
            <a:off x="7875374" y="4049926"/>
            <a:ext cx="224892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63C030A-E257-DEC7-5165-60C932923357}"/>
              </a:ext>
            </a:extLst>
          </p:cNvPr>
          <p:cNvSpPr txBox="1"/>
          <p:nvPr/>
        </p:nvSpPr>
        <p:spPr>
          <a:xfrm>
            <a:off x="7710616" y="4831492"/>
            <a:ext cx="538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bad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12592F7-B1D3-29DB-F030-1A7EAF88607B}"/>
              </a:ext>
            </a:extLst>
          </p:cNvPr>
          <p:cNvSpPr txBox="1"/>
          <p:nvPr/>
        </p:nvSpPr>
        <p:spPr>
          <a:xfrm>
            <a:off x="9854838" y="4768678"/>
            <a:ext cx="6575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good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9561676-045F-19C7-DBCD-E2AC8EC53EBF}"/>
              </a:ext>
            </a:extLst>
          </p:cNvPr>
          <p:cNvSpPr/>
          <p:nvPr/>
        </p:nvSpPr>
        <p:spPr>
          <a:xfrm>
            <a:off x="4285708" y="2639711"/>
            <a:ext cx="1583722" cy="20064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Personalize knowledge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1DF1137-DC08-C152-E521-CD54E06BF85E}"/>
              </a:ext>
            </a:extLst>
          </p:cNvPr>
          <p:cNvSpPr/>
          <p:nvPr/>
        </p:nvSpPr>
        <p:spPr>
          <a:xfrm>
            <a:off x="4285708" y="4768678"/>
            <a:ext cx="1583722" cy="42116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request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A0A30F4-334B-FB35-E954-07CE091AA728}"/>
              </a:ext>
            </a:extLst>
          </p:cNvPr>
          <p:cNvSpPr/>
          <p:nvPr/>
        </p:nvSpPr>
        <p:spPr>
          <a:xfrm>
            <a:off x="5629533" y="397474"/>
            <a:ext cx="504565" cy="511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A61C2A8-48B3-0881-B9F9-89355E943026}"/>
              </a:ext>
            </a:extLst>
          </p:cNvPr>
          <p:cNvSpPr/>
          <p:nvPr/>
        </p:nvSpPr>
        <p:spPr>
          <a:xfrm>
            <a:off x="8423193" y="1152181"/>
            <a:ext cx="504565" cy="511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0AD5DA5-BD0A-3970-9C15-57D1E72B0B28}"/>
              </a:ext>
            </a:extLst>
          </p:cNvPr>
          <p:cNvSpPr/>
          <p:nvPr/>
        </p:nvSpPr>
        <p:spPr>
          <a:xfrm>
            <a:off x="4324523" y="302739"/>
            <a:ext cx="504565" cy="511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E5B28CF-962B-6F01-1CA6-54DCF224848C}"/>
              </a:ext>
            </a:extLst>
          </p:cNvPr>
          <p:cNvSpPr/>
          <p:nvPr/>
        </p:nvSpPr>
        <p:spPr>
          <a:xfrm>
            <a:off x="4353355" y="1370139"/>
            <a:ext cx="504565" cy="511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1179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C9B22A-37CB-52AB-8A0E-750B9C5F6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C632199-9CF0-0992-E19A-DDDC026F2C18}"/>
              </a:ext>
            </a:extLst>
          </p:cNvPr>
          <p:cNvSpPr/>
          <p:nvPr/>
        </p:nvSpPr>
        <p:spPr>
          <a:xfrm>
            <a:off x="3946926" y="2437539"/>
            <a:ext cx="2261287" cy="302122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context</a:t>
            </a:r>
          </a:p>
        </p:txBody>
      </p:sp>
      <p:pic>
        <p:nvPicPr>
          <p:cNvPr id="1026" name="Picture 2" descr="AI Will Surpass Human Brains Once We Crack the 'Neural Code ...">
            <a:extLst>
              <a:ext uri="{FF2B5EF4-FFF2-40B4-BE49-F238E27FC236}">
                <a16:creationId xmlns:a16="http://schemas.microsoft.com/office/drawing/2014/main" id="{6AC4ED95-6937-8A5F-C109-3F87F3A0AF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4078" y="105032"/>
            <a:ext cx="3106985" cy="2094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F96A3B0-33E9-49B0-8C7C-ED4CFC8514D4}"/>
              </a:ext>
            </a:extLst>
          </p:cNvPr>
          <p:cNvSpPr txBox="1"/>
          <p:nvPr/>
        </p:nvSpPr>
        <p:spPr>
          <a:xfrm>
            <a:off x="1075038" y="4831492"/>
            <a:ext cx="27350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	Customized brain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D7FCC68-3760-3101-E5BA-15476AE5E6B7}"/>
              </a:ext>
            </a:extLst>
          </p:cNvPr>
          <p:cNvCxnSpPr/>
          <p:nvPr/>
        </p:nvCxnSpPr>
        <p:spPr>
          <a:xfrm>
            <a:off x="7895968" y="3429000"/>
            <a:ext cx="0" cy="10194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44AD549-7165-F668-138D-446A68EFCCAA}"/>
              </a:ext>
            </a:extLst>
          </p:cNvPr>
          <p:cNvCxnSpPr/>
          <p:nvPr/>
        </p:nvCxnSpPr>
        <p:spPr>
          <a:xfrm>
            <a:off x="10124303" y="3331175"/>
            <a:ext cx="0" cy="10194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B8F4686-0636-F994-B8EC-EF664C6B68A2}"/>
              </a:ext>
            </a:extLst>
          </p:cNvPr>
          <p:cNvCxnSpPr>
            <a:cxnSpLocks/>
          </p:cNvCxnSpPr>
          <p:nvPr/>
        </p:nvCxnSpPr>
        <p:spPr>
          <a:xfrm flipH="1">
            <a:off x="7875374" y="4049926"/>
            <a:ext cx="224892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AFBAD7C-96C1-CD26-5F89-77EB865378B2}"/>
              </a:ext>
            </a:extLst>
          </p:cNvPr>
          <p:cNvSpPr txBox="1"/>
          <p:nvPr/>
        </p:nvSpPr>
        <p:spPr>
          <a:xfrm>
            <a:off x="7710616" y="4831492"/>
            <a:ext cx="538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bad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AB2841-D2F8-EC70-0630-EFA24E2D9168}"/>
              </a:ext>
            </a:extLst>
          </p:cNvPr>
          <p:cNvSpPr txBox="1"/>
          <p:nvPr/>
        </p:nvSpPr>
        <p:spPr>
          <a:xfrm>
            <a:off x="9854838" y="4768678"/>
            <a:ext cx="6575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good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52DAC0-C022-F7E7-25AA-CC201D2C3923}"/>
              </a:ext>
            </a:extLst>
          </p:cNvPr>
          <p:cNvSpPr/>
          <p:nvPr/>
        </p:nvSpPr>
        <p:spPr>
          <a:xfrm>
            <a:off x="4285708" y="2639711"/>
            <a:ext cx="1583722" cy="20064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Personalize knowledge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775A2AB-9B23-ECD8-7130-DBEA608873A0}"/>
              </a:ext>
            </a:extLst>
          </p:cNvPr>
          <p:cNvSpPr/>
          <p:nvPr/>
        </p:nvSpPr>
        <p:spPr>
          <a:xfrm>
            <a:off x="4285708" y="4768678"/>
            <a:ext cx="1583722" cy="42116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request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D629B08-134F-C386-AC29-78B05FEAFFAF}"/>
              </a:ext>
            </a:extLst>
          </p:cNvPr>
          <p:cNvSpPr/>
          <p:nvPr/>
        </p:nvSpPr>
        <p:spPr>
          <a:xfrm>
            <a:off x="5629533" y="397474"/>
            <a:ext cx="504565" cy="511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5EFF713-85A6-2DF7-E9C2-6FDBA7FD2029}"/>
              </a:ext>
            </a:extLst>
          </p:cNvPr>
          <p:cNvSpPr/>
          <p:nvPr/>
        </p:nvSpPr>
        <p:spPr>
          <a:xfrm>
            <a:off x="8423193" y="1152181"/>
            <a:ext cx="504565" cy="511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2CB2F55-B23E-DB50-2502-B437551599DB}"/>
              </a:ext>
            </a:extLst>
          </p:cNvPr>
          <p:cNvSpPr/>
          <p:nvPr/>
        </p:nvSpPr>
        <p:spPr>
          <a:xfrm>
            <a:off x="4324523" y="302739"/>
            <a:ext cx="504565" cy="511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E0FA4E3-54E9-39FA-6707-9DB5692E100F}"/>
              </a:ext>
            </a:extLst>
          </p:cNvPr>
          <p:cNvSpPr/>
          <p:nvPr/>
        </p:nvSpPr>
        <p:spPr>
          <a:xfrm>
            <a:off x="4353355" y="1370139"/>
            <a:ext cx="504565" cy="511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833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87AEA7-2F3D-FF2F-D8E0-BA2F981A4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3E5B571-0467-014E-4C12-29ED1C3A8679}"/>
              </a:ext>
            </a:extLst>
          </p:cNvPr>
          <p:cNvSpPr/>
          <p:nvPr/>
        </p:nvSpPr>
        <p:spPr>
          <a:xfrm>
            <a:off x="8291383" y="667265"/>
            <a:ext cx="1655805" cy="11738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Personalize knowledge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A66255-3714-C855-CAA9-64F41E05F008}"/>
              </a:ext>
            </a:extLst>
          </p:cNvPr>
          <p:cNvSpPr/>
          <p:nvPr/>
        </p:nvSpPr>
        <p:spPr>
          <a:xfrm>
            <a:off x="4040659" y="2539313"/>
            <a:ext cx="2261287" cy="302122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context</a:t>
            </a:r>
          </a:p>
        </p:txBody>
      </p:sp>
      <p:pic>
        <p:nvPicPr>
          <p:cNvPr id="1026" name="Picture 2" descr="AI Will Surpass Human Brains Once We Crack the 'Neural Code ...">
            <a:extLst>
              <a:ext uri="{FF2B5EF4-FFF2-40B4-BE49-F238E27FC236}">
                <a16:creationId xmlns:a16="http://schemas.microsoft.com/office/drawing/2014/main" id="{018ED0D2-11A2-C9CD-D575-6563731D1B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241" y="821896"/>
            <a:ext cx="3106985" cy="2094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E3D8C77-4BCC-087A-0014-95F3EB353604}"/>
              </a:ext>
            </a:extLst>
          </p:cNvPr>
          <p:cNvSpPr/>
          <p:nvPr/>
        </p:nvSpPr>
        <p:spPr>
          <a:xfrm>
            <a:off x="10136658" y="1066800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B9C72A-F82F-77BA-023C-CC494FD3295A}"/>
              </a:ext>
            </a:extLst>
          </p:cNvPr>
          <p:cNvSpPr/>
          <p:nvPr/>
        </p:nvSpPr>
        <p:spPr>
          <a:xfrm>
            <a:off x="4248661" y="2945027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53A7972-D39C-1F3D-09E6-BE33E1FD213C}"/>
              </a:ext>
            </a:extLst>
          </p:cNvPr>
          <p:cNvSpPr/>
          <p:nvPr/>
        </p:nvSpPr>
        <p:spPr>
          <a:xfrm>
            <a:off x="5275303" y="2755556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16DFE44-C60F-7D51-1C97-D164EB308180}"/>
              </a:ext>
            </a:extLst>
          </p:cNvPr>
          <p:cNvSpPr txBox="1"/>
          <p:nvPr/>
        </p:nvSpPr>
        <p:spPr>
          <a:xfrm>
            <a:off x="1075038" y="4831492"/>
            <a:ext cx="27350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	Customized brain</a:t>
            </a:r>
          </a:p>
        </p:txBody>
      </p:sp>
    </p:spTree>
    <p:extLst>
      <p:ext uri="{BB962C8B-B14F-4D97-AF65-F5344CB8AC3E}">
        <p14:creationId xmlns:p14="http://schemas.microsoft.com/office/powerpoint/2010/main" val="29442736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D744D0F-8C87-AAA7-FA41-439215B97584}"/>
              </a:ext>
            </a:extLst>
          </p:cNvPr>
          <p:cNvSpPr txBox="1"/>
          <p:nvPr/>
        </p:nvSpPr>
        <p:spPr>
          <a:xfrm>
            <a:off x="1294349" y="2967335"/>
            <a:ext cx="88015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AI does not come with all the knowledge needed to complete the job</a:t>
            </a: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A656F431-22FB-B037-91E2-8D27E5427361}"/>
              </a:ext>
            </a:extLst>
          </p:cNvPr>
          <p:cNvSpPr txBox="1">
            <a:spLocks/>
          </p:cNvSpPr>
          <p:nvPr/>
        </p:nvSpPr>
        <p:spPr>
          <a:xfrm>
            <a:off x="4953399" y="2167560"/>
            <a:ext cx="1659557" cy="547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b="1"/>
              <a:t>Problem</a:t>
            </a:r>
            <a:endParaRPr lang="en-US" sz="3200" b="1" i="1">
              <a:latin typeface="Ink Free" panose="03080402000500000000" pitchFamily="66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EA3AA1-5299-AC0D-CE3C-28592BC7EC5C}"/>
              </a:ext>
            </a:extLst>
          </p:cNvPr>
          <p:cNvSpPr txBox="1"/>
          <p:nvPr/>
        </p:nvSpPr>
        <p:spPr>
          <a:xfrm>
            <a:off x="2986514" y="3450100"/>
            <a:ext cx="55933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highlight>
                  <a:srgbClr val="FFFF00"/>
                </a:highlight>
              </a:rPr>
              <a:t>AI forgets all previous experiences with you</a:t>
            </a:r>
          </a:p>
        </p:txBody>
      </p:sp>
    </p:spTree>
    <p:extLst>
      <p:ext uri="{BB962C8B-B14F-4D97-AF65-F5344CB8AC3E}">
        <p14:creationId xmlns:p14="http://schemas.microsoft.com/office/powerpoint/2010/main" val="35964822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76364-CCC7-D02C-F5FE-274172876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A6FA79A-D31E-B1D8-9531-4F66CE842869}"/>
              </a:ext>
            </a:extLst>
          </p:cNvPr>
          <p:cNvSpPr/>
          <p:nvPr/>
        </p:nvSpPr>
        <p:spPr>
          <a:xfrm>
            <a:off x="8291383" y="667265"/>
            <a:ext cx="1655805" cy="11738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Personalize knowledge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5D1400-D758-CA11-98E8-A2A86DFD89F6}"/>
              </a:ext>
            </a:extLst>
          </p:cNvPr>
          <p:cNvSpPr/>
          <p:nvPr/>
        </p:nvSpPr>
        <p:spPr>
          <a:xfrm>
            <a:off x="4040659" y="2539313"/>
            <a:ext cx="2261287" cy="302122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context</a:t>
            </a:r>
          </a:p>
        </p:txBody>
      </p:sp>
      <p:pic>
        <p:nvPicPr>
          <p:cNvPr id="1026" name="Picture 2" descr="AI Will Surpass Human Brains Once We Crack the 'Neural Code ...">
            <a:extLst>
              <a:ext uri="{FF2B5EF4-FFF2-40B4-BE49-F238E27FC236}">
                <a16:creationId xmlns:a16="http://schemas.microsoft.com/office/drawing/2014/main" id="{3CA1A30E-41AA-AF22-F7BD-1ED06D3810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241" y="821896"/>
            <a:ext cx="3106985" cy="2094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A7A6FE8-071A-4A50-89F5-A91A8626B568}"/>
              </a:ext>
            </a:extLst>
          </p:cNvPr>
          <p:cNvSpPr/>
          <p:nvPr/>
        </p:nvSpPr>
        <p:spPr>
          <a:xfrm>
            <a:off x="10136658" y="1066800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16175D-9CDC-6B03-D08F-CEA488AACB52}"/>
              </a:ext>
            </a:extLst>
          </p:cNvPr>
          <p:cNvSpPr/>
          <p:nvPr/>
        </p:nvSpPr>
        <p:spPr>
          <a:xfrm>
            <a:off x="9524996" y="2088292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1DDC1CB-5D83-485B-8C01-D3DE12812232}"/>
              </a:ext>
            </a:extLst>
          </p:cNvPr>
          <p:cNvSpPr/>
          <p:nvPr/>
        </p:nvSpPr>
        <p:spPr>
          <a:xfrm>
            <a:off x="10447636" y="2088292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23954835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73470-0305-EF50-168A-1E0B5B7BB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A220711-CC98-A348-AC4B-D4D78C51CE97}"/>
              </a:ext>
            </a:extLst>
          </p:cNvPr>
          <p:cNvSpPr txBox="1"/>
          <p:nvPr/>
        </p:nvSpPr>
        <p:spPr>
          <a:xfrm>
            <a:off x="3620529" y="3013501"/>
            <a:ext cx="455669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/>
              <a:t>not wanting to close the window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/>
              <a:t>having to repeat yourself</a:t>
            </a: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8ABA22A9-3DDA-C599-0088-2EA57EC7F15F}"/>
              </a:ext>
            </a:extLst>
          </p:cNvPr>
          <p:cNvSpPr txBox="1">
            <a:spLocks/>
          </p:cNvSpPr>
          <p:nvPr/>
        </p:nvSpPr>
        <p:spPr>
          <a:xfrm>
            <a:off x="4953399" y="2167560"/>
            <a:ext cx="2485369" cy="547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b="1"/>
              <a:t>Symptoms</a:t>
            </a:r>
            <a:endParaRPr lang="en-US" sz="3200" b="1" i="1">
              <a:latin typeface="Ink Free" panose="03080402000500000000" pitchFamily="66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6DD8C8-FC9B-25C5-1F0A-F646FE78BFC8}"/>
              </a:ext>
            </a:extLst>
          </p:cNvPr>
          <p:cNvSpPr txBox="1"/>
          <p:nvPr/>
        </p:nvSpPr>
        <p:spPr>
          <a:xfrm>
            <a:off x="1754659" y="4856206"/>
            <a:ext cx="1013149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Having to repeat yourself - every session, re-explaining the same things </a:t>
            </a:r>
          </a:p>
          <a:p>
            <a:pPr marL="285750" indent="-285750">
              <a:buFontTx/>
              <a:buChar char="-"/>
            </a:pPr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Not wanting to close the window because you invested so much into this one </a:t>
            </a:r>
          </a:p>
          <a:p>
            <a:pPr marL="285750" indent="-285750">
              <a:buFontTx/>
              <a:buChar char="-"/>
            </a:pPr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YOU become its memory - you're the one doing all the remembering, and it's exhausting </a:t>
            </a:r>
          </a:p>
          <a:p>
            <a:pPr marL="285750" indent="-285750">
              <a:buFontTx/>
              <a:buChar char="-"/>
            </a:pPr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Every new session is a stranger - all the understanding, all the teaching, gone </a:t>
            </a:r>
          </a:p>
          <a:p>
            <a:pPr marL="285750" indent="-285750">
              <a:buFontTx/>
              <a:buChar char="-"/>
            </a:pPr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Effort evaporates - you put real work into getting it to understand you, and that work just disappears</a:t>
            </a:r>
          </a:p>
        </p:txBody>
      </p:sp>
    </p:spTree>
    <p:extLst>
      <p:ext uri="{BB962C8B-B14F-4D97-AF65-F5344CB8AC3E}">
        <p14:creationId xmlns:p14="http://schemas.microsoft.com/office/powerpoint/2010/main" val="42366865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41388-D187-1842-8FDF-B8AAC47B8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8C1800C-ACA8-EBCA-11D7-EDF8A5411FD7}"/>
              </a:ext>
            </a:extLst>
          </p:cNvPr>
          <p:cNvSpPr txBox="1"/>
          <p:nvPr/>
        </p:nvSpPr>
        <p:spPr>
          <a:xfrm>
            <a:off x="3954161" y="2951717"/>
            <a:ext cx="274293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/>
              <a:t>AI has no memory</a:t>
            </a:r>
          </a:p>
          <a:p>
            <a:endParaRPr lang="en-US" sz="2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/>
              <a:t>Obstacle: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/>
              <a:t>Cannot learn</a:t>
            </a: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02577A63-BE15-7D09-50DB-DB100949B219}"/>
              </a:ext>
            </a:extLst>
          </p:cNvPr>
          <p:cNvSpPr txBox="1">
            <a:spLocks/>
          </p:cNvSpPr>
          <p:nvPr/>
        </p:nvSpPr>
        <p:spPr>
          <a:xfrm>
            <a:off x="4953399" y="2167560"/>
            <a:ext cx="2485369" cy="547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b="1"/>
              <a:t>Cause</a:t>
            </a:r>
            <a:endParaRPr lang="en-US" sz="3200" b="1" i="1">
              <a:latin typeface="Ink Free" panose="03080402000500000000" pitchFamily="66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62082B-936A-B81D-9FB6-4ABB4CA221DE}"/>
              </a:ext>
            </a:extLst>
          </p:cNvPr>
          <p:cNvSpPr txBox="1"/>
          <p:nvPr/>
        </p:nvSpPr>
        <p:spPr>
          <a:xfrm>
            <a:off x="1018917" y="5059382"/>
            <a:ext cx="1015416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urier New" panose="02070309020205020404" pitchFamily="49" charset="0"/>
              </a:rPr>
              <a:t>Fixed weights — you can't teach it through conversation with you</a:t>
            </a:r>
          </a:p>
          <a:p>
            <a:pPr marL="285750" indent="-285750">
              <a:buFontTx/>
              <a:buChar char="-"/>
            </a:pPr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urier New" panose="02070309020205020404" pitchFamily="49" charset="0"/>
              </a:rPr>
              <a:t>Statelessness — what looks like memory is just re-reading the conversation each time. Close the window, it's gone</a:t>
            </a:r>
          </a:p>
          <a:p>
            <a:pPr marL="285750" indent="-285750">
              <a:buFontTx/>
              <a:buChar char="-"/>
            </a:pPr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</a:rPr>
              <a:t>It is not remembering, i</a:t>
            </a:r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urier New" panose="02070309020205020404" pitchFamily="49" charset="0"/>
              </a:rPr>
              <a:t>t is re-reading</a:t>
            </a:r>
          </a:p>
        </p:txBody>
      </p:sp>
    </p:spTree>
    <p:extLst>
      <p:ext uri="{BB962C8B-B14F-4D97-AF65-F5344CB8AC3E}">
        <p14:creationId xmlns:p14="http://schemas.microsoft.com/office/powerpoint/2010/main" val="12107976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B27817D-F5E9-ACAD-EC27-7B43AC61B9F3}"/>
              </a:ext>
            </a:extLst>
          </p:cNvPr>
          <p:cNvSpPr/>
          <p:nvPr/>
        </p:nvSpPr>
        <p:spPr>
          <a:xfrm>
            <a:off x="2333297" y="2007476"/>
            <a:ext cx="1471448" cy="3289738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2576FB-EB25-49B6-0650-1DC7914A5385}"/>
              </a:ext>
            </a:extLst>
          </p:cNvPr>
          <p:cNvSpPr txBox="1"/>
          <p:nvPr/>
        </p:nvSpPr>
        <p:spPr>
          <a:xfrm>
            <a:off x="2511973" y="1681655"/>
            <a:ext cx="1146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AI learned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F9923A-DB2E-01EA-8CE6-1E830141AA7B}"/>
              </a:ext>
            </a:extLst>
          </p:cNvPr>
          <p:cNvSpPr/>
          <p:nvPr/>
        </p:nvSpPr>
        <p:spPr>
          <a:xfrm>
            <a:off x="4776952" y="2007476"/>
            <a:ext cx="1886734" cy="328973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AF50CC-225B-7BA4-F116-8D769F2A6C67}"/>
              </a:ext>
            </a:extLst>
          </p:cNvPr>
          <p:cNvSpPr txBox="1"/>
          <p:nvPr/>
        </p:nvSpPr>
        <p:spPr>
          <a:xfrm>
            <a:off x="4776952" y="2196661"/>
            <a:ext cx="1886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Frozen knowledge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60B3A8-1263-6C12-C8FF-9D41CDF9A3E3}"/>
              </a:ext>
            </a:extLst>
          </p:cNvPr>
          <p:cNvSpPr/>
          <p:nvPr/>
        </p:nvSpPr>
        <p:spPr>
          <a:xfrm>
            <a:off x="7840718" y="2007476"/>
            <a:ext cx="1886734" cy="328973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54CCC2-2219-B169-7306-63A78EDB31A9}"/>
              </a:ext>
            </a:extLst>
          </p:cNvPr>
          <p:cNvSpPr txBox="1"/>
          <p:nvPr/>
        </p:nvSpPr>
        <p:spPr>
          <a:xfrm>
            <a:off x="8057572" y="2228191"/>
            <a:ext cx="1453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AI knowledge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E8A4714-8E8D-7A1B-9716-14C6A431EABA}"/>
              </a:ext>
            </a:extLst>
          </p:cNvPr>
          <p:cNvSpPr/>
          <p:nvPr/>
        </p:nvSpPr>
        <p:spPr>
          <a:xfrm>
            <a:off x="7840718" y="1572766"/>
            <a:ext cx="1886734" cy="43471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context</a:t>
            </a:r>
          </a:p>
        </p:txBody>
      </p:sp>
    </p:spTree>
    <p:extLst>
      <p:ext uri="{BB962C8B-B14F-4D97-AF65-F5344CB8AC3E}">
        <p14:creationId xmlns:p14="http://schemas.microsoft.com/office/powerpoint/2010/main" val="773828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1963D0-15E3-F75C-0DC6-0D1CAF79E968}"/>
              </a:ext>
            </a:extLst>
          </p:cNvPr>
          <p:cNvSpPr txBox="1"/>
          <p:nvPr/>
        </p:nvSpPr>
        <p:spPr>
          <a:xfrm>
            <a:off x="4004441" y="1019503"/>
            <a:ext cx="1864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ai has no memory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FE353C-6776-15D5-C32A-6A559E707A80}"/>
              </a:ext>
            </a:extLst>
          </p:cNvPr>
          <p:cNvSpPr txBox="1"/>
          <p:nvPr/>
        </p:nvSpPr>
        <p:spPr>
          <a:xfrm>
            <a:off x="756745" y="2144110"/>
            <a:ext cx="277633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/>
              <a:t>question A</a:t>
            </a:r>
          </a:p>
          <a:p>
            <a:pPr marL="285750" indent="-285750">
              <a:buFontTx/>
              <a:buChar char="-"/>
            </a:pPr>
            <a:r>
              <a:rPr lang="en-US"/>
              <a:t>answer to A</a:t>
            </a:r>
          </a:p>
          <a:p>
            <a:pPr marL="285750" indent="-285750">
              <a:buFontTx/>
              <a:buChar char="-"/>
            </a:pPr>
            <a:r>
              <a:rPr lang="en-US"/>
              <a:t>question B referencing A</a:t>
            </a:r>
          </a:p>
          <a:p>
            <a:pPr marL="285750" indent="-285750">
              <a:buFontTx/>
              <a:buChar char="-"/>
            </a:pPr>
            <a:r>
              <a:rPr lang="en-US"/>
              <a:t>ai is like: what?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F8FF3E-6383-0155-787F-5819FA428A7B}"/>
              </a:ext>
            </a:extLst>
          </p:cNvPr>
          <p:cNvSpPr txBox="1"/>
          <p:nvPr/>
        </p:nvSpPr>
        <p:spPr>
          <a:xfrm>
            <a:off x="4750676" y="2374942"/>
            <a:ext cx="1609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better example</a:t>
            </a:r>
          </a:p>
        </p:txBody>
      </p:sp>
    </p:spTree>
    <p:extLst>
      <p:ext uri="{BB962C8B-B14F-4D97-AF65-F5344CB8AC3E}">
        <p14:creationId xmlns:p14="http://schemas.microsoft.com/office/powerpoint/2010/main" val="30693219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96943B1-BE7C-2CF8-5298-F88301345530}"/>
              </a:ext>
            </a:extLst>
          </p:cNvPr>
          <p:cNvSpPr txBox="1"/>
          <p:nvPr/>
        </p:nvSpPr>
        <p:spPr>
          <a:xfrm>
            <a:off x="1650124" y="2596055"/>
            <a:ext cx="2409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add to the conversation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2900248-1F92-280A-A90E-2E5937BC16B4}"/>
              </a:ext>
            </a:extLst>
          </p:cNvPr>
          <p:cNvSpPr txBox="1"/>
          <p:nvPr/>
        </p:nvSpPr>
        <p:spPr>
          <a:xfrm>
            <a:off x="6190593" y="2585545"/>
            <a:ext cx="2060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restart conversation</a:t>
            </a:r>
          </a:p>
        </p:txBody>
      </p:sp>
    </p:spTree>
    <p:extLst>
      <p:ext uri="{BB962C8B-B14F-4D97-AF65-F5344CB8AC3E}">
        <p14:creationId xmlns:p14="http://schemas.microsoft.com/office/powerpoint/2010/main" val="13588638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F6088-E20C-4FB1-BEAE-4A02C7002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D6DF58-BC8C-6B09-C1B3-055211F91F8B}"/>
              </a:ext>
            </a:extLst>
          </p:cNvPr>
          <p:cNvSpPr txBox="1"/>
          <p:nvPr/>
        </p:nvSpPr>
        <p:spPr>
          <a:xfrm>
            <a:off x="3954161" y="2951717"/>
            <a:ext cx="322530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/>
              <a:t>Context Management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/>
              <a:t>Knowledge Document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/>
              <a:t>Extract Knowledge</a:t>
            </a: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A6619CAD-28D6-A97C-932F-4E27CE2657A5}"/>
              </a:ext>
            </a:extLst>
          </p:cNvPr>
          <p:cNvSpPr txBox="1">
            <a:spLocks/>
          </p:cNvSpPr>
          <p:nvPr/>
        </p:nvSpPr>
        <p:spPr>
          <a:xfrm>
            <a:off x="4953399" y="2167560"/>
            <a:ext cx="2485369" cy="547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b="1"/>
              <a:t>Patterns</a:t>
            </a:r>
            <a:endParaRPr lang="en-US" sz="3200" b="1" i="1">
              <a:latin typeface="Ink Free" panose="03080402000500000000" pitchFamily="66" charset="0"/>
            </a:endParaRPr>
          </a:p>
        </p:txBody>
      </p:sp>
      <p:pic>
        <p:nvPicPr>
          <p:cNvPr id="4" name="Picture 3" descr="A green circle with black text and a number&#10;&#10;AI-generated content may be incorrect.">
            <a:extLst>
              <a:ext uri="{FF2B5EF4-FFF2-40B4-BE49-F238E27FC236}">
                <a16:creationId xmlns:a16="http://schemas.microsoft.com/office/drawing/2014/main" id="{ED987469-BE31-1223-FB83-446FE52D16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6530" y="1323888"/>
            <a:ext cx="1219200" cy="1270000"/>
          </a:xfrm>
          <a:prstGeom prst="rect">
            <a:avLst/>
          </a:prstGeom>
        </p:spPr>
      </p:pic>
      <p:pic>
        <p:nvPicPr>
          <p:cNvPr id="5" name="Picture 4" descr="A green circle with black text and a number&#10;&#10;AI-generated content may be incorrect.">
            <a:extLst>
              <a:ext uri="{FF2B5EF4-FFF2-40B4-BE49-F238E27FC236}">
                <a16:creationId xmlns:a16="http://schemas.microsoft.com/office/drawing/2014/main" id="{2B1060C4-2F43-FB29-7225-E099C0A7B1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3830" y="2856299"/>
            <a:ext cx="1231900" cy="1231900"/>
          </a:xfrm>
          <a:prstGeom prst="rect">
            <a:avLst/>
          </a:prstGeom>
        </p:spPr>
      </p:pic>
      <p:pic>
        <p:nvPicPr>
          <p:cNvPr id="6" name="Picture 5" descr="A close-up of a white board&#10;&#10;AI-generated content may be incorrect.">
            <a:extLst>
              <a:ext uri="{FF2B5EF4-FFF2-40B4-BE49-F238E27FC236}">
                <a16:creationId xmlns:a16="http://schemas.microsoft.com/office/drawing/2014/main" id="{E9E7A8D8-65C8-E20A-4FEF-8A62C9B62A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2629" y="4350610"/>
            <a:ext cx="1168400" cy="11176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7F350D3-1A6A-595F-EAB6-93AEAFB4823A}"/>
              </a:ext>
            </a:extLst>
          </p:cNvPr>
          <p:cNvSpPr txBox="1"/>
          <p:nvPr/>
        </p:nvSpPr>
        <p:spPr>
          <a:xfrm>
            <a:off x="1602642" y="4876117"/>
            <a:ext cx="811388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/>
              <a:t>Since it can't remember, you have to become the memory manager </a:t>
            </a:r>
          </a:p>
          <a:p>
            <a:pPr marL="285750" indent="-285750">
              <a:buFontTx/>
              <a:buChar char="-"/>
            </a:pPr>
            <a:r>
              <a:rPr lang="en-US"/>
              <a:t>Move from ephemeral conversation → persistent files </a:t>
            </a:r>
          </a:p>
          <a:p>
            <a:pPr marL="285750" indent="-285750">
              <a:buFontTx/>
              <a:buChar char="-"/>
            </a:pPr>
            <a:r>
              <a:rPr lang="en-US"/>
              <a:t>It's like a save button — you capture what matters before it disappears </a:t>
            </a:r>
          </a:p>
          <a:p>
            <a:pPr marL="285750" indent="-285750">
              <a:buFontTx/>
              <a:buChar char="-"/>
            </a:pPr>
            <a:r>
              <a:rPr lang="en-US"/>
              <a:t>You're building a personal knowledge library that lives outside any single session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06988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6A8BC-C669-D0ED-1EEC-69FA1BEA9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223E066-4153-8AC2-28BB-E71DC996AC0E}"/>
              </a:ext>
            </a:extLst>
          </p:cNvPr>
          <p:cNvSpPr txBox="1"/>
          <p:nvPr/>
        </p:nvSpPr>
        <p:spPr>
          <a:xfrm>
            <a:off x="4004441" y="1019503"/>
            <a:ext cx="22552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Knowledge Document</a:t>
            </a:r>
          </a:p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381B29E-460E-B8E9-6E89-B1374CCE2518}"/>
              </a:ext>
            </a:extLst>
          </p:cNvPr>
          <p:cNvSpPr/>
          <p:nvPr/>
        </p:nvSpPr>
        <p:spPr>
          <a:xfrm>
            <a:off x="840828" y="2417379"/>
            <a:ext cx="1891862" cy="29323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941534-125E-DC62-251B-551A4FEC5463}"/>
              </a:ext>
            </a:extLst>
          </p:cNvPr>
          <p:cNvSpPr/>
          <p:nvPr/>
        </p:nvSpPr>
        <p:spPr>
          <a:xfrm>
            <a:off x="1996964" y="2779984"/>
            <a:ext cx="488731" cy="467711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91684F-FC23-608E-C90E-EEA2020B3910}"/>
              </a:ext>
            </a:extLst>
          </p:cNvPr>
          <p:cNvSpPr/>
          <p:nvPr/>
        </p:nvSpPr>
        <p:spPr>
          <a:xfrm>
            <a:off x="7152289" y="2575033"/>
            <a:ext cx="488731" cy="467711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3FE2AF-129C-404B-3504-FD39E00E932C}"/>
              </a:ext>
            </a:extLst>
          </p:cNvPr>
          <p:cNvSpPr txBox="1"/>
          <p:nvPr/>
        </p:nvSpPr>
        <p:spPr>
          <a:xfrm>
            <a:off x="7977352" y="2659117"/>
            <a:ext cx="1518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knowedge.md</a:t>
            </a:r>
          </a:p>
        </p:txBody>
      </p:sp>
    </p:spTree>
    <p:extLst>
      <p:ext uri="{BB962C8B-B14F-4D97-AF65-F5344CB8AC3E}">
        <p14:creationId xmlns:p14="http://schemas.microsoft.com/office/powerpoint/2010/main" val="38759865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9E339-2445-DC5E-2116-51FDE3396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E547C5F-CF67-CBB8-393A-0A8268AF1ACB}"/>
              </a:ext>
            </a:extLst>
          </p:cNvPr>
          <p:cNvSpPr txBox="1"/>
          <p:nvPr/>
        </p:nvSpPr>
        <p:spPr>
          <a:xfrm>
            <a:off x="4004441" y="1019503"/>
            <a:ext cx="11332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On restart</a:t>
            </a:r>
          </a:p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87EA602-08B7-A380-768D-005727A0CA35}"/>
              </a:ext>
            </a:extLst>
          </p:cNvPr>
          <p:cNvSpPr/>
          <p:nvPr/>
        </p:nvSpPr>
        <p:spPr>
          <a:xfrm>
            <a:off x="840828" y="2417379"/>
            <a:ext cx="1891862" cy="29323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F543299-22B7-98DD-2C2E-E8AABC2DCCC4}"/>
              </a:ext>
            </a:extLst>
          </p:cNvPr>
          <p:cNvSpPr/>
          <p:nvPr/>
        </p:nvSpPr>
        <p:spPr>
          <a:xfrm>
            <a:off x="5754414" y="2338552"/>
            <a:ext cx="1891862" cy="29323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68D8A05-EC33-6662-B691-D939E37CA12C}"/>
              </a:ext>
            </a:extLst>
          </p:cNvPr>
          <p:cNvSpPr/>
          <p:nvPr/>
        </p:nvSpPr>
        <p:spPr>
          <a:xfrm>
            <a:off x="5851634" y="2425261"/>
            <a:ext cx="488731" cy="467711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09048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BB9A8-4328-5493-BDBE-C8528261C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2AC1592-32F5-9A82-15A9-B0777F65DDD7}"/>
              </a:ext>
            </a:extLst>
          </p:cNvPr>
          <p:cNvSpPr txBox="1"/>
          <p:nvPr/>
        </p:nvSpPr>
        <p:spPr>
          <a:xfrm>
            <a:off x="4004441" y="1019503"/>
            <a:ext cx="19246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Extract Knowledge</a:t>
            </a:r>
          </a:p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B2D280E-FF2F-7DBA-96EE-0D2B8514B25A}"/>
              </a:ext>
            </a:extLst>
          </p:cNvPr>
          <p:cNvSpPr/>
          <p:nvPr/>
        </p:nvSpPr>
        <p:spPr>
          <a:xfrm>
            <a:off x="840828" y="2417379"/>
            <a:ext cx="1891862" cy="29323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D3071F-2825-C868-F0C0-EC58BC905EFA}"/>
              </a:ext>
            </a:extLst>
          </p:cNvPr>
          <p:cNvSpPr/>
          <p:nvPr/>
        </p:nvSpPr>
        <p:spPr>
          <a:xfrm>
            <a:off x="1996964" y="2779984"/>
            <a:ext cx="488731" cy="467711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8180DA4-C32C-31F3-5053-8B9535466F2A}"/>
              </a:ext>
            </a:extLst>
          </p:cNvPr>
          <p:cNvSpPr/>
          <p:nvPr/>
        </p:nvSpPr>
        <p:spPr>
          <a:xfrm>
            <a:off x="4162220" y="3464628"/>
            <a:ext cx="488731" cy="467711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21FAC1B-FD65-4DF7-9B0A-8DBDD77E7FEE}"/>
              </a:ext>
            </a:extLst>
          </p:cNvPr>
          <p:cNvSpPr txBox="1"/>
          <p:nvPr/>
        </p:nvSpPr>
        <p:spPr>
          <a:xfrm>
            <a:off x="4987283" y="3548712"/>
            <a:ext cx="1518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knowedge.md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8229D6-F364-F1D7-6300-491E47D22E8D}"/>
              </a:ext>
            </a:extLst>
          </p:cNvPr>
          <p:cNvSpPr txBox="1"/>
          <p:nvPr/>
        </p:nvSpPr>
        <p:spPr>
          <a:xfrm>
            <a:off x="3384331" y="3563007"/>
            <a:ext cx="370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-&gt;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E30531-4759-2089-A9A1-19693486BFD5}"/>
              </a:ext>
            </a:extLst>
          </p:cNvPr>
          <p:cNvSpPr txBox="1"/>
          <p:nvPr/>
        </p:nvSpPr>
        <p:spPr>
          <a:xfrm>
            <a:off x="3216166" y="2921876"/>
            <a:ext cx="1507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save it for me </a:t>
            </a:r>
          </a:p>
        </p:txBody>
      </p:sp>
    </p:spTree>
    <p:extLst>
      <p:ext uri="{BB962C8B-B14F-4D97-AF65-F5344CB8AC3E}">
        <p14:creationId xmlns:p14="http://schemas.microsoft.com/office/powerpoint/2010/main" val="41309145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89847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B9E08-D988-4743-50DC-5EE0F32C4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37555FA-04C8-AAD8-4B93-800FE128DC75}"/>
              </a:ext>
            </a:extLst>
          </p:cNvPr>
          <p:cNvSpPr txBox="1"/>
          <p:nvPr/>
        </p:nvSpPr>
        <p:spPr>
          <a:xfrm>
            <a:off x="3076832" y="3954162"/>
            <a:ext cx="662040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Thought: You could give it all your practices, but if some of them are </a:t>
            </a:r>
          </a:p>
          <a:p>
            <a:r>
              <a:rPr lang="en-US"/>
              <a:t>not relevant to what you’re doing, theywill distract the agent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22280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40028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453238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15B10-6E1B-7689-29AF-CEC782AD1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587343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E930F-5ECB-62C8-BC4C-FE23B8648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0332893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FA46C8-813B-7BDA-0078-693843D08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79414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A19CB-5878-CAB3-1EC9-775411ABC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74F552-EF6C-5C54-5A2E-EBEFBBE20732}"/>
              </a:ext>
            </a:extLst>
          </p:cNvPr>
          <p:cNvSpPr txBox="1"/>
          <p:nvPr/>
        </p:nvSpPr>
        <p:spPr>
          <a:xfrm>
            <a:off x="2986514" y="2967335"/>
            <a:ext cx="55933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AI forgets all previous experiences with you</a:t>
            </a: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12D448E3-88DE-5F35-893F-C9499D9C9EA1}"/>
              </a:ext>
            </a:extLst>
          </p:cNvPr>
          <p:cNvSpPr txBox="1">
            <a:spLocks/>
          </p:cNvSpPr>
          <p:nvPr/>
        </p:nvSpPr>
        <p:spPr>
          <a:xfrm>
            <a:off x="4953399" y="2167560"/>
            <a:ext cx="1659557" cy="547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b="1"/>
              <a:t>Problem</a:t>
            </a:r>
            <a:endParaRPr lang="en-US" sz="3200" b="1" i="1">
              <a:latin typeface="Ink Free" panose="03080402000500000000" pitchFamily="66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7D231E-8FC6-D536-BE21-FA3E76D4F303}"/>
              </a:ext>
            </a:extLst>
          </p:cNvPr>
          <p:cNvSpPr txBox="1"/>
          <p:nvPr/>
        </p:nvSpPr>
        <p:spPr>
          <a:xfrm>
            <a:off x="7871255" y="5622324"/>
            <a:ext cx="10775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amnesia?</a:t>
            </a:r>
          </a:p>
          <a:p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46765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4A5D5-7DCE-F455-5FEC-C07B5BEC1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8E9042E-B414-F058-3D56-8063F2B970D1}"/>
              </a:ext>
            </a:extLst>
          </p:cNvPr>
          <p:cNvSpPr txBox="1"/>
          <p:nvPr/>
        </p:nvSpPr>
        <p:spPr>
          <a:xfrm>
            <a:off x="3620529" y="3013501"/>
            <a:ext cx="455669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/>
              <a:t>not wanting to close the window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/>
              <a:t>having to repeat yourself</a:t>
            </a: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38BBB71D-6F5C-13C6-52EA-A369DBD57873}"/>
              </a:ext>
            </a:extLst>
          </p:cNvPr>
          <p:cNvSpPr txBox="1">
            <a:spLocks/>
          </p:cNvSpPr>
          <p:nvPr/>
        </p:nvSpPr>
        <p:spPr>
          <a:xfrm>
            <a:off x="4953399" y="2167560"/>
            <a:ext cx="2485369" cy="547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b="1"/>
              <a:t>Symptoms</a:t>
            </a:r>
            <a:endParaRPr lang="en-US" sz="3200" b="1" i="1">
              <a:latin typeface="Ink Free" panose="03080402000500000000" pitchFamily="66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527978-EFFD-672A-03E9-1BF2CF7FC939}"/>
              </a:ext>
            </a:extLst>
          </p:cNvPr>
          <p:cNvSpPr txBox="1"/>
          <p:nvPr/>
        </p:nvSpPr>
        <p:spPr>
          <a:xfrm>
            <a:off x="1754659" y="4856206"/>
            <a:ext cx="1013149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Having to repeat yourself - every session, re-explaining the same things </a:t>
            </a:r>
          </a:p>
          <a:p>
            <a:pPr marL="285750" indent="-285750">
              <a:buFontTx/>
              <a:buChar char="-"/>
            </a:pPr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Not wanting to close the window because you invested so much into this one </a:t>
            </a:r>
          </a:p>
          <a:p>
            <a:pPr marL="285750" indent="-285750">
              <a:buFontTx/>
              <a:buChar char="-"/>
            </a:pPr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YOU become its memory - you're the one doing all the remembering, and it's exhausting </a:t>
            </a:r>
          </a:p>
          <a:p>
            <a:pPr marL="285750" indent="-285750">
              <a:buFontTx/>
              <a:buChar char="-"/>
            </a:pPr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Every new session is a stranger - all the understanding, all the teaching, gone </a:t>
            </a:r>
          </a:p>
          <a:p>
            <a:pPr marL="285750" indent="-285750">
              <a:buFontTx/>
              <a:buChar char="-"/>
            </a:pPr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Effort evaporates - you put real work into getting it to understand you, and that work just disappears</a:t>
            </a:r>
          </a:p>
        </p:txBody>
      </p:sp>
    </p:spTree>
    <p:extLst>
      <p:ext uri="{BB962C8B-B14F-4D97-AF65-F5344CB8AC3E}">
        <p14:creationId xmlns:p14="http://schemas.microsoft.com/office/powerpoint/2010/main" val="42230551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F8EA80-7A0C-B457-AC0A-C24D41450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2EAF76-E88F-6ED3-188D-CD05EDD2B1E7}"/>
              </a:ext>
            </a:extLst>
          </p:cNvPr>
          <p:cNvSpPr txBox="1"/>
          <p:nvPr/>
        </p:nvSpPr>
        <p:spPr>
          <a:xfrm>
            <a:off x="4609070" y="3059668"/>
            <a:ext cx="292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/>
              <a:t>?</a:t>
            </a:r>
            <a:endParaRPr lang="en-US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06F20BEE-9BF7-8B9D-7015-5F25AC9CC0F0}"/>
              </a:ext>
            </a:extLst>
          </p:cNvPr>
          <p:cNvSpPr txBox="1">
            <a:spLocks/>
          </p:cNvSpPr>
          <p:nvPr/>
        </p:nvSpPr>
        <p:spPr>
          <a:xfrm>
            <a:off x="4953399" y="2167560"/>
            <a:ext cx="1659557" cy="547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b="1"/>
              <a:t>Story</a:t>
            </a:r>
            <a:endParaRPr lang="en-US" sz="3200" b="1" i="1">
              <a:latin typeface="Ink Free" panose="03080402000500000000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27547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E4F1D-C7BD-9350-E6A9-9EEFF348D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97C90F-1143-1027-329C-E475766EA184}"/>
              </a:ext>
            </a:extLst>
          </p:cNvPr>
          <p:cNvSpPr txBox="1"/>
          <p:nvPr/>
        </p:nvSpPr>
        <p:spPr>
          <a:xfrm>
            <a:off x="3954161" y="2951717"/>
            <a:ext cx="274293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/>
              <a:t>AI has no memory</a:t>
            </a:r>
          </a:p>
          <a:p>
            <a:endParaRPr lang="en-US" sz="2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/>
              <a:t>Obstacle: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/>
              <a:t>Cannot learn</a:t>
            </a: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D30FCBEC-AC19-D978-0ABC-91486164744C}"/>
              </a:ext>
            </a:extLst>
          </p:cNvPr>
          <p:cNvSpPr txBox="1">
            <a:spLocks/>
          </p:cNvSpPr>
          <p:nvPr/>
        </p:nvSpPr>
        <p:spPr>
          <a:xfrm>
            <a:off x="4953399" y="2167560"/>
            <a:ext cx="2485369" cy="547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b="1"/>
              <a:t>Cause</a:t>
            </a:r>
            <a:endParaRPr lang="en-US" sz="3200" b="1" i="1">
              <a:latin typeface="Ink Free" panose="03080402000500000000" pitchFamily="66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33F672-2330-FEBD-137F-AD69DB3935B8}"/>
              </a:ext>
            </a:extLst>
          </p:cNvPr>
          <p:cNvSpPr txBox="1"/>
          <p:nvPr/>
        </p:nvSpPr>
        <p:spPr>
          <a:xfrm>
            <a:off x="1018917" y="5059382"/>
            <a:ext cx="1015416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urier New" panose="02070309020205020404" pitchFamily="49" charset="0"/>
              </a:rPr>
              <a:t>Fixed weights — you can't teach it through conversation with you</a:t>
            </a:r>
          </a:p>
          <a:p>
            <a:pPr marL="285750" indent="-285750">
              <a:buFontTx/>
              <a:buChar char="-"/>
            </a:pPr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urier New" panose="02070309020205020404" pitchFamily="49" charset="0"/>
              </a:rPr>
              <a:t>Statelessness — what looks like memory is just re-reading the conversation each time. Close the window, it's gone</a:t>
            </a:r>
          </a:p>
          <a:p>
            <a:pPr marL="285750" indent="-285750">
              <a:buFontTx/>
              <a:buChar char="-"/>
            </a:pPr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</a:rPr>
              <a:t>It is not remembering, i</a:t>
            </a:r>
            <a:r>
              <a:rPr lang="en-US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urier New" panose="02070309020205020404" pitchFamily="49" charset="0"/>
              </a:rPr>
              <a:t>t is re-reading</a:t>
            </a:r>
          </a:p>
        </p:txBody>
      </p:sp>
    </p:spTree>
    <p:extLst>
      <p:ext uri="{BB962C8B-B14F-4D97-AF65-F5344CB8AC3E}">
        <p14:creationId xmlns:p14="http://schemas.microsoft.com/office/powerpoint/2010/main" val="29697872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497F7-2BE7-642D-BDAD-AF907FE14D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89C5639-FCA1-EF64-2E66-91515C66E681}"/>
              </a:ext>
            </a:extLst>
          </p:cNvPr>
          <p:cNvSpPr/>
          <p:nvPr/>
        </p:nvSpPr>
        <p:spPr>
          <a:xfrm>
            <a:off x="2333297" y="2007476"/>
            <a:ext cx="1471448" cy="3289738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2B9621-5799-8DC1-35BE-AC6A382C223E}"/>
              </a:ext>
            </a:extLst>
          </p:cNvPr>
          <p:cNvSpPr txBox="1"/>
          <p:nvPr/>
        </p:nvSpPr>
        <p:spPr>
          <a:xfrm>
            <a:off x="2511973" y="1681655"/>
            <a:ext cx="1146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AI learned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AE3A43-87AC-5FF5-DEA5-4527B8604906}"/>
              </a:ext>
            </a:extLst>
          </p:cNvPr>
          <p:cNvSpPr/>
          <p:nvPr/>
        </p:nvSpPr>
        <p:spPr>
          <a:xfrm>
            <a:off x="4776952" y="2007476"/>
            <a:ext cx="1886734" cy="328973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14FE3B-7381-3985-395C-E7C3A9777A2B}"/>
              </a:ext>
            </a:extLst>
          </p:cNvPr>
          <p:cNvSpPr txBox="1"/>
          <p:nvPr/>
        </p:nvSpPr>
        <p:spPr>
          <a:xfrm>
            <a:off x="4776952" y="2196661"/>
            <a:ext cx="1886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Frozen knowledge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51FE043-7E28-7BBC-B301-DDFFB6CD71E3}"/>
              </a:ext>
            </a:extLst>
          </p:cNvPr>
          <p:cNvSpPr/>
          <p:nvPr/>
        </p:nvSpPr>
        <p:spPr>
          <a:xfrm>
            <a:off x="7840718" y="2007476"/>
            <a:ext cx="1886734" cy="328973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8264E7-5A04-529A-B3F4-3076A009ED3A}"/>
              </a:ext>
            </a:extLst>
          </p:cNvPr>
          <p:cNvSpPr txBox="1"/>
          <p:nvPr/>
        </p:nvSpPr>
        <p:spPr>
          <a:xfrm>
            <a:off x="8057572" y="2228191"/>
            <a:ext cx="1453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AI knowledge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874B360-F24A-4B84-617A-709D66BF5D88}"/>
              </a:ext>
            </a:extLst>
          </p:cNvPr>
          <p:cNvSpPr/>
          <p:nvPr/>
        </p:nvSpPr>
        <p:spPr>
          <a:xfrm>
            <a:off x="7840718" y="1572766"/>
            <a:ext cx="1886734" cy="43471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context</a:t>
            </a:r>
          </a:p>
        </p:txBody>
      </p:sp>
    </p:spTree>
    <p:extLst>
      <p:ext uri="{BB962C8B-B14F-4D97-AF65-F5344CB8AC3E}">
        <p14:creationId xmlns:p14="http://schemas.microsoft.com/office/powerpoint/2010/main" val="12770164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C419F-BFDB-2A63-85C3-BCBB84859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17B958F-22BE-9905-4300-CCE81C17BAC1}"/>
              </a:ext>
            </a:extLst>
          </p:cNvPr>
          <p:cNvSpPr txBox="1"/>
          <p:nvPr/>
        </p:nvSpPr>
        <p:spPr>
          <a:xfrm>
            <a:off x="4004441" y="1019503"/>
            <a:ext cx="1864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ai has no memory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51C38F-8FFB-BA94-536A-1AE162F96148}"/>
              </a:ext>
            </a:extLst>
          </p:cNvPr>
          <p:cNvSpPr txBox="1"/>
          <p:nvPr/>
        </p:nvSpPr>
        <p:spPr>
          <a:xfrm>
            <a:off x="756745" y="2144110"/>
            <a:ext cx="277633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/>
              <a:t>question A</a:t>
            </a:r>
          </a:p>
          <a:p>
            <a:pPr marL="285750" indent="-285750">
              <a:buFontTx/>
              <a:buChar char="-"/>
            </a:pPr>
            <a:r>
              <a:rPr lang="en-US"/>
              <a:t>answer to A</a:t>
            </a:r>
          </a:p>
          <a:p>
            <a:pPr marL="285750" indent="-285750">
              <a:buFontTx/>
              <a:buChar char="-"/>
            </a:pPr>
            <a:r>
              <a:rPr lang="en-US"/>
              <a:t>question B referencing A</a:t>
            </a:r>
          </a:p>
          <a:p>
            <a:pPr marL="285750" indent="-285750">
              <a:buFontTx/>
              <a:buChar char="-"/>
            </a:pPr>
            <a:r>
              <a:rPr lang="en-US"/>
              <a:t>ai is like: what?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927A3E-D498-CB9B-AC0E-6FFCA6A00B6A}"/>
              </a:ext>
            </a:extLst>
          </p:cNvPr>
          <p:cNvSpPr txBox="1"/>
          <p:nvPr/>
        </p:nvSpPr>
        <p:spPr>
          <a:xfrm>
            <a:off x="4750676" y="2374942"/>
            <a:ext cx="1609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better example</a:t>
            </a:r>
          </a:p>
        </p:txBody>
      </p:sp>
    </p:spTree>
    <p:extLst>
      <p:ext uri="{BB962C8B-B14F-4D97-AF65-F5344CB8AC3E}">
        <p14:creationId xmlns:p14="http://schemas.microsoft.com/office/powerpoint/2010/main" val="396671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34D50-EDDC-F6A8-BA7F-F8DF443B2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0423675-3A93-65CB-8BE4-08BDEF781955}"/>
              </a:ext>
            </a:extLst>
          </p:cNvPr>
          <p:cNvSpPr txBox="1"/>
          <p:nvPr/>
        </p:nvSpPr>
        <p:spPr>
          <a:xfrm>
            <a:off x="1650124" y="2596055"/>
            <a:ext cx="2409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add to the conversation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D99068-BB7B-3D6D-1D9A-0BD2D81A351B}"/>
              </a:ext>
            </a:extLst>
          </p:cNvPr>
          <p:cNvSpPr txBox="1"/>
          <p:nvPr/>
        </p:nvSpPr>
        <p:spPr>
          <a:xfrm>
            <a:off x="6190593" y="2585545"/>
            <a:ext cx="2060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restart conversation</a:t>
            </a:r>
          </a:p>
        </p:txBody>
      </p:sp>
    </p:spTree>
    <p:extLst>
      <p:ext uri="{BB962C8B-B14F-4D97-AF65-F5344CB8AC3E}">
        <p14:creationId xmlns:p14="http://schemas.microsoft.com/office/powerpoint/2010/main" val="16705126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F59E6-36CF-568F-FB20-D41226307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4BE729B-6D2F-57C3-23CB-D324DD568158}"/>
              </a:ext>
            </a:extLst>
          </p:cNvPr>
          <p:cNvSpPr txBox="1"/>
          <p:nvPr/>
        </p:nvSpPr>
        <p:spPr>
          <a:xfrm>
            <a:off x="3954161" y="2951717"/>
            <a:ext cx="322530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/>
              <a:t>Context Management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/>
              <a:t>Knowledge Document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/>
              <a:t>Extract Knowledge</a:t>
            </a: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BE958D50-A580-24CA-51A2-C1E6BE2100F2}"/>
              </a:ext>
            </a:extLst>
          </p:cNvPr>
          <p:cNvSpPr txBox="1">
            <a:spLocks/>
          </p:cNvSpPr>
          <p:nvPr/>
        </p:nvSpPr>
        <p:spPr>
          <a:xfrm>
            <a:off x="4953399" y="2167560"/>
            <a:ext cx="2485369" cy="547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b="1"/>
              <a:t>Patterns</a:t>
            </a:r>
            <a:endParaRPr lang="en-US" sz="3200" b="1" i="1">
              <a:latin typeface="Ink Free" panose="03080402000500000000" pitchFamily="66" charset="0"/>
            </a:endParaRPr>
          </a:p>
        </p:txBody>
      </p:sp>
      <p:pic>
        <p:nvPicPr>
          <p:cNvPr id="4" name="Picture 3" descr="A green circle with black text and a number&#10;&#10;AI-generated content may be incorrect.">
            <a:extLst>
              <a:ext uri="{FF2B5EF4-FFF2-40B4-BE49-F238E27FC236}">
                <a16:creationId xmlns:a16="http://schemas.microsoft.com/office/drawing/2014/main" id="{0E11DBD0-DA39-B627-E724-ADF1625293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6530" y="1323888"/>
            <a:ext cx="1219200" cy="1270000"/>
          </a:xfrm>
          <a:prstGeom prst="rect">
            <a:avLst/>
          </a:prstGeom>
        </p:spPr>
      </p:pic>
      <p:pic>
        <p:nvPicPr>
          <p:cNvPr id="5" name="Picture 4" descr="A green circle with black text and a number&#10;&#10;AI-generated content may be incorrect.">
            <a:extLst>
              <a:ext uri="{FF2B5EF4-FFF2-40B4-BE49-F238E27FC236}">
                <a16:creationId xmlns:a16="http://schemas.microsoft.com/office/drawing/2014/main" id="{5021A5EE-7554-014D-75B2-E7C2C1B5E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3830" y="2856299"/>
            <a:ext cx="1231900" cy="1231900"/>
          </a:xfrm>
          <a:prstGeom prst="rect">
            <a:avLst/>
          </a:prstGeom>
        </p:spPr>
      </p:pic>
      <p:pic>
        <p:nvPicPr>
          <p:cNvPr id="6" name="Picture 5" descr="A close-up of a white board&#10;&#10;AI-generated content may be incorrect.">
            <a:extLst>
              <a:ext uri="{FF2B5EF4-FFF2-40B4-BE49-F238E27FC236}">
                <a16:creationId xmlns:a16="http://schemas.microsoft.com/office/drawing/2014/main" id="{C0809DB6-D3CA-C981-AD1A-AC980E89C9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2629" y="4350610"/>
            <a:ext cx="1168400" cy="11176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00CC933-AC7B-E2E3-327B-340B358BE706}"/>
              </a:ext>
            </a:extLst>
          </p:cNvPr>
          <p:cNvSpPr txBox="1"/>
          <p:nvPr/>
        </p:nvSpPr>
        <p:spPr>
          <a:xfrm>
            <a:off x="1602642" y="4876117"/>
            <a:ext cx="811388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/>
              <a:t>Since it can't remember, you have to become the memory manager </a:t>
            </a:r>
          </a:p>
          <a:p>
            <a:pPr marL="285750" indent="-285750">
              <a:buFontTx/>
              <a:buChar char="-"/>
            </a:pPr>
            <a:r>
              <a:rPr lang="en-US"/>
              <a:t>Move from ephemeral conversation → persistent files </a:t>
            </a:r>
          </a:p>
          <a:p>
            <a:pPr marL="285750" indent="-285750">
              <a:buFontTx/>
              <a:buChar char="-"/>
            </a:pPr>
            <a:r>
              <a:rPr lang="en-US"/>
              <a:t>It's like a save button — you capture what matters before it disappears </a:t>
            </a:r>
          </a:p>
          <a:p>
            <a:pPr marL="285750" indent="-285750">
              <a:buFontTx/>
              <a:buChar char="-"/>
            </a:pPr>
            <a:r>
              <a:rPr lang="en-US"/>
              <a:t>You're building a personal knowledge library that lives outside any single session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83468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EE2115-8866-1AE1-35A7-20643BE73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E77A219-877B-5BA3-FD49-8BC093EEF6A4}"/>
              </a:ext>
            </a:extLst>
          </p:cNvPr>
          <p:cNvSpPr txBox="1"/>
          <p:nvPr/>
        </p:nvSpPr>
        <p:spPr>
          <a:xfrm>
            <a:off x="4004441" y="1019503"/>
            <a:ext cx="22552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Knowledge Document</a:t>
            </a:r>
          </a:p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23C0823-5E3A-F0C3-D1B2-5FF546E77AEE}"/>
              </a:ext>
            </a:extLst>
          </p:cNvPr>
          <p:cNvSpPr/>
          <p:nvPr/>
        </p:nvSpPr>
        <p:spPr>
          <a:xfrm>
            <a:off x="840828" y="2417379"/>
            <a:ext cx="1891862" cy="29323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C82E8D-C062-0D81-13CA-EAEEE973D5FB}"/>
              </a:ext>
            </a:extLst>
          </p:cNvPr>
          <p:cNvSpPr/>
          <p:nvPr/>
        </p:nvSpPr>
        <p:spPr>
          <a:xfrm>
            <a:off x="1996964" y="2779984"/>
            <a:ext cx="488731" cy="467711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DC1F308-13D7-64C5-BC66-86087445A394}"/>
              </a:ext>
            </a:extLst>
          </p:cNvPr>
          <p:cNvSpPr/>
          <p:nvPr/>
        </p:nvSpPr>
        <p:spPr>
          <a:xfrm>
            <a:off x="7152289" y="2575033"/>
            <a:ext cx="488731" cy="467711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A04F0D2-45FE-F000-1DD8-68D4C4F06ADE}"/>
              </a:ext>
            </a:extLst>
          </p:cNvPr>
          <p:cNvSpPr txBox="1"/>
          <p:nvPr/>
        </p:nvSpPr>
        <p:spPr>
          <a:xfrm>
            <a:off x="7977352" y="2659117"/>
            <a:ext cx="1518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knowedge.md</a:t>
            </a:r>
          </a:p>
        </p:txBody>
      </p:sp>
    </p:spTree>
    <p:extLst>
      <p:ext uri="{BB962C8B-B14F-4D97-AF65-F5344CB8AC3E}">
        <p14:creationId xmlns:p14="http://schemas.microsoft.com/office/powerpoint/2010/main" val="101864772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67433-9F92-2EDB-50CD-48EB3201F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A65F1CA-14D4-B381-147C-D2337251D94A}"/>
              </a:ext>
            </a:extLst>
          </p:cNvPr>
          <p:cNvSpPr txBox="1"/>
          <p:nvPr/>
        </p:nvSpPr>
        <p:spPr>
          <a:xfrm>
            <a:off x="4004441" y="1019503"/>
            <a:ext cx="11332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On restart</a:t>
            </a:r>
          </a:p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BB5F68-A0AD-739C-433B-EBC8D3BDA2D2}"/>
              </a:ext>
            </a:extLst>
          </p:cNvPr>
          <p:cNvSpPr/>
          <p:nvPr/>
        </p:nvSpPr>
        <p:spPr>
          <a:xfrm>
            <a:off x="840828" y="2417379"/>
            <a:ext cx="1891862" cy="29323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092964F-5FDB-6F20-1A3B-02DE51D8BFD3}"/>
              </a:ext>
            </a:extLst>
          </p:cNvPr>
          <p:cNvSpPr/>
          <p:nvPr/>
        </p:nvSpPr>
        <p:spPr>
          <a:xfrm>
            <a:off x="5754414" y="2338552"/>
            <a:ext cx="1891862" cy="29323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F307AA-2F22-54A2-D4D0-3DCE87404D60}"/>
              </a:ext>
            </a:extLst>
          </p:cNvPr>
          <p:cNvSpPr/>
          <p:nvPr/>
        </p:nvSpPr>
        <p:spPr>
          <a:xfrm>
            <a:off x="5851634" y="2425261"/>
            <a:ext cx="488731" cy="467711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60945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B4980-B44A-7B09-A3ED-47B286063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39B866-F31C-FCA5-A28D-E6854F484706}"/>
              </a:ext>
            </a:extLst>
          </p:cNvPr>
          <p:cNvSpPr txBox="1"/>
          <p:nvPr/>
        </p:nvSpPr>
        <p:spPr>
          <a:xfrm>
            <a:off x="4004441" y="1019503"/>
            <a:ext cx="19246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Extract Knowledge</a:t>
            </a:r>
          </a:p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66495DA-E9CB-6331-D2A2-49AA8A5AD1E3}"/>
              </a:ext>
            </a:extLst>
          </p:cNvPr>
          <p:cNvSpPr/>
          <p:nvPr/>
        </p:nvSpPr>
        <p:spPr>
          <a:xfrm>
            <a:off x="840828" y="2417379"/>
            <a:ext cx="1891862" cy="29323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C12FA0-04C0-2186-ABE3-038EA616ED13}"/>
              </a:ext>
            </a:extLst>
          </p:cNvPr>
          <p:cNvSpPr/>
          <p:nvPr/>
        </p:nvSpPr>
        <p:spPr>
          <a:xfrm>
            <a:off x="1996964" y="2779984"/>
            <a:ext cx="488731" cy="467711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0E532CC-1B7B-23F0-A04E-A5C4B46E81B9}"/>
              </a:ext>
            </a:extLst>
          </p:cNvPr>
          <p:cNvSpPr/>
          <p:nvPr/>
        </p:nvSpPr>
        <p:spPr>
          <a:xfrm>
            <a:off x="4162220" y="3464628"/>
            <a:ext cx="488731" cy="467711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8BE435B-406D-4B37-D54A-1A7A71BC08A5}"/>
              </a:ext>
            </a:extLst>
          </p:cNvPr>
          <p:cNvSpPr txBox="1"/>
          <p:nvPr/>
        </p:nvSpPr>
        <p:spPr>
          <a:xfrm>
            <a:off x="4987283" y="3548712"/>
            <a:ext cx="1518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knowedge.md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730F0F-4FA3-6861-9B45-5BD28D9B9F0F}"/>
              </a:ext>
            </a:extLst>
          </p:cNvPr>
          <p:cNvSpPr txBox="1"/>
          <p:nvPr/>
        </p:nvSpPr>
        <p:spPr>
          <a:xfrm>
            <a:off x="3384331" y="3563007"/>
            <a:ext cx="370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-&gt;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3FA801-3417-AE86-E5BC-C32261FEA897}"/>
              </a:ext>
            </a:extLst>
          </p:cNvPr>
          <p:cNvSpPr txBox="1"/>
          <p:nvPr/>
        </p:nvSpPr>
        <p:spPr>
          <a:xfrm>
            <a:off x="3216166" y="2921876"/>
            <a:ext cx="1507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save it for me </a:t>
            </a:r>
          </a:p>
        </p:txBody>
      </p:sp>
    </p:spTree>
    <p:extLst>
      <p:ext uri="{BB962C8B-B14F-4D97-AF65-F5344CB8AC3E}">
        <p14:creationId xmlns:p14="http://schemas.microsoft.com/office/powerpoint/2010/main" val="44301643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A17668-D83C-93CB-3A56-2665B4F91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831C950-D89D-52EF-3DA8-7BA24036F520}"/>
              </a:ext>
            </a:extLst>
          </p:cNvPr>
          <p:cNvSpPr/>
          <p:nvPr/>
        </p:nvSpPr>
        <p:spPr>
          <a:xfrm>
            <a:off x="8291383" y="667265"/>
            <a:ext cx="1655805" cy="11738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Personalize knowledge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7B8B53-7377-C48A-8FA4-8BE5BC72F4F7}"/>
              </a:ext>
            </a:extLst>
          </p:cNvPr>
          <p:cNvSpPr/>
          <p:nvPr/>
        </p:nvSpPr>
        <p:spPr>
          <a:xfrm>
            <a:off x="4040659" y="2539313"/>
            <a:ext cx="2261287" cy="302122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context</a:t>
            </a:r>
          </a:p>
        </p:txBody>
      </p:sp>
      <p:pic>
        <p:nvPicPr>
          <p:cNvPr id="1026" name="Picture 2" descr="AI Will Surpass Human Brains Once We Crack the 'Neural Code ...">
            <a:extLst>
              <a:ext uri="{FF2B5EF4-FFF2-40B4-BE49-F238E27FC236}">
                <a16:creationId xmlns:a16="http://schemas.microsoft.com/office/drawing/2014/main" id="{55DADC1E-795B-783E-A51D-87858788F4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241" y="821896"/>
            <a:ext cx="3106985" cy="2094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7B4A1B2-4019-1F44-1916-497E0ACE62C2}"/>
              </a:ext>
            </a:extLst>
          </p:cNvPr>
          <p:cNvSpPr/>
          <p:nvPr/>
        </p:nvSpPr>
        <p:spPr>
          <a:xfrm>
            <a:off x="10136658" y="1066800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A1F268-3BBC-DE1E-BBBF-34EAC0A017DD}"/>
              </a:ext>
            </a:extLst>
          </p:cNvPr>
          <p:cNvSpPr/>
          <p:nvPr/>
        </p:nvSpPr>
        <p:spPr>
          <a:xfrm>
            <a:off x="9524996" y="2088292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C592A4-FD67-609D-F970-0DD9107F9074}"/>
              </a:ext>
            </a:extLst>
          </p:cNvPr>
          <p:cNvSpPr/>
          <p:nvPr/>
        </p:nvSpPr>
        <p:spPr>
          <a:xfrm>
            <a:off x="10447636" y="2088292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119227079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73FF8A-D536-411B-18BA-3E207562F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E588424-1334-3C95-9CD6-D78966EAF8B0}"/>
              </a:ext>
            </a:extLst>
          </p:cNvPr>
          <p:cNvSpPr/>
          <p:nvPr/>
        </p:nvSpPr>
        <p:spPr>
          <a:xfrm>
            <a:off x="8291383" y="667265"/>
            <a:ext cx="1655805" cy="11738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Personalize knowledge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667BFF9-79AB-09DB-AEED-404D287256B0}"/>
              </a:ext>
            </a:extLst>
          </p:cNvPr>
          <p:cNvSpPr/>
          <p:nvPr/>
        </p:nvSpPr>
        <p:spPr>
          <a:xfrm>
            <a:off x="4040659" y="2539313"/>
            <a:ext cx="2261287" cy="302122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context</a:t>
            </a:r>
          </a:p>
        </p:txBody>
      </p:sp>
      <p:pic>
        <p:nvPicPr>
          <p:cNvPr id="1026" name="Picture 2" descr="AI Will Surpass Human Brains Once We Crack the 'Neural Code ...">
            <a:extLst>
              <a:ext uri="{FF2B5EF4-FFF2-40B4-BE49-F238E27FC236}">
                <a16:creationId xmlns:a16="http://schemas.microsoft.com/office/drawing/2014/main" id="{3C868B95-6C53-E17B-C357-45F52AC420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241" y="821896"/>
            <a:ext cx="3106985" cy="2094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7689AC7-7D47-FB2A-C313-846555DFA1C7}"/>
              </a:ext>
            </a:extLst>
          </p:cNvPr>
          <p:cNvSpPr/>
          <p:nvPr/>
        </p:nvSpPr>
        <p:spPr>
          <a:xfrm>
            <a:off x="10136658" y="1066800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05DA1E8-026F-3030-7929-41EAA066126E}"/>
              </a:ext>
            </a:extLst>
          </p:cNvPr>
          <p:cNvSpPr/>
          <p:nvPr/>
        </p:nvSpPr>
        <p:spPr>
          <a:xfrm>
            <a:off x="4248661" y="2945027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23CC60B-F0A3-4797-267E-83880C808D2A}"/>
              </a:ext>
            </a:extLst>
          </p:cNvPr>
          <p:cNvSpPr/>
          <p:nvPr/>
        </p:nvSpPr>
        <p:spPr>
          <a:xfrm>
            <a:off x="5275303" y="2755556"/>
            <a:ext cx="564293" cy="5395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0117870-6309-6AF0-D395-2E252241C65B}"/>
              </a:ext>
            </a:extLst>
          </p:cNvPr>
          <p:cNvSpPr txBox="1"/>
          <p:nvPr/>
        </p:nvSpPr>
        <p:spPr>
          <a:xfrm>
            <a:off x="1075038" y="4831492"/>
            <a:ext cx="27350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	Customized brain</a:t>
            </a:r>
          </a:p>
        </p:txBody>
      </p:sp>
    </p:spTree>
    <p:extLst>
      <p:ext uri="{BB962C8B-B14F-4D97-AF65-F5344CB8AC3E}">
        <p14:creationId xmlns:p14="http://schemas.microsoft.com/office/powerpoint/2010/main" val="313834507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E5EB83-56BE-538E-05DA-030BBD37A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40FD7F4-F697-5848-47F5-D18FC0745F8F}"/>
              </a:ext>
            </a:extLst>
          </p:cNvPr>
          <p:cNvSpPr/>
          <p:nvPr/>
        </p:nvSpPr>
        <p:spPr>
          <a:xfrm>
            <a:off x="3946926" y="2437539"/>
            <a:ext cx="2261287" cy="302122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context</a:t>
            </a:r>
          </a:p>
        </p:txBody>
      </p:sp>
      <p:pic>
        <p:nvPicPr>
          <p:cNvPr id="1026" name="Picture 2" descr="AI Will Surpass Human Brains Once We Crack the 'Neural Code ...">
            <a:extLst>
              <a:ext uri="{FF2B5EF4-FFF2-40B4-BE49-F238E27FC236}">
                <a16:creationId xmlns:a16="http://schemas.microsoft.com/office/drawing/2014/main" id="{098A4008-3DFF-9D6E-E154-962A56B090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4078" y="105032"/>
            <a:ext cx="3106985" cy="2094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38D6EC6-CD87-690C-CC5D-365E48D8E141}"/>
              </a:ext>
            </a:extLst>
          </p:cNvPr>
          <p:cNvSpPr txBox="1"/>
          <p:nvPr/>
        </p:nvSpPr>
        <p:spPr>
          <a:xfrm>
            <a:off x="1075038" y="4831492"/>
            <a:ext cx="27350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	Customized brain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0E9297E-1EF3-BCA0-41B2-15D8B49FFF99}"/>
              </a:ext>
            </a:extLst>
          </p:cNvPr>
          <p:cNvCxnSpPr/>
          <p:nvPr/>
        </p:nvCxnSpPr>
        <p:spPr>
          <a:xfrm>
            <a:off x="7895968" y="3429000"/>
            <a:ext cx="0" cy="10194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6A2EEF2-F6D7-FB54-9988-72CD7EDC77E3}"/>
              </a:ext>
            </a:extLst>
          </p:cNvPr>
          <p:cNvCxnSpPr/>
          <p:nvPr/>
        </p:nvCxnSpPr>
        <p:spPr>
          <a:xfrm>
            <a:off x="10124303" y="3331175"/>
            <a:ext cx="0" cy="10194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1FF15E3-1FB3-799B-3C71-6C7EDAB045B8}"/>
              </a:ext>
            </a:extLst>
          </p:cNvPr>
          <p:cNvCxnSpPr>
            <a:cxnSpLocks/>
          </p:cNvCxnSpPr>
          <p:nvPr/>
        </p:nvCxnSpPr>
        <p:spPr>
          <a:xfrm flipH="1">
            <a:off x="7875374" y="4049926"/>
            <a:ext cx="224892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6F95817-C9D4-79F6-4649-F1BD070D8FAC}"/>
              </a:ext>
            </a:extLst>
          </p:cNvPr>
          <p:cNvSpPr txBox="1"/>
          <p:nvPr/>
        </p:nvSpPr>
        <p:spPr>
          <a:xfrm>
            <a:off x="7710616" y="4831492"/>
            <a:ext cx="538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bad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E5DD29F-D35A-1E31-F9AD-70714B377A02}"/>
              </a:ext>
            </a:extLst>
          </p:cNvPr>
          <p:cNvSpPr txBox="1"/>
          <p:nvPr/>
        </p:nvSpPr>
        <p:spPr>
          <a:xfrm>
            <a:off x="9854838" y="4768678"/>
            <a:ext cx="6575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good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04B12C4-0CA6-AE12-24DC-73282CBD5AC7}"/>
              </a:ext>
            </a:extLst>
          </p:cNvPr>
          <p:cNvSpPr/>
          <p:nvPr/>
        </p:nvSpPr>
        <p:spPr>
          <a:xfrm>
            <a:off x="4285708" y="2639711"/>
            <a:ext cx="1583722" cy="20064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Personalize knowledge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421E75A-CB6E-FFC4-6704-97691493D8AD}"/>
              </a:ext>
            </a:extLst>
          </p:cNvPr>
          <p:cNvSpPr/>
          <p:nvPr/>
        </p:nvSpPr>
        <p:spPr>
          <a:xfrm>
            <a:off x="4285708" y="4768678"/>
            <a:ext cx="1583722" cy="42116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request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4BD13CF-9844-3B92-0CE1-CDADDB21D369}"/>
              </a:ext>
            </a:extLst>
          </p:cNvPr>
          <p:cNvSpPr/>
          <p:nvPr/>
        </p:nvSpPr>
        <p:spPr>
          <a:xfrm>
            <a:off x="5629533" y="397474"/>
            <a:ext cx="504565" cy="511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7D16217-1F36-A9BE-4D78-2AA61A765C23}"/>
              </a:ext>
            </a:extLst>
          </p:cNvPr>
          <p:cNvSpPr/>
          <p:nvPr/>
        </p:nvSpPr>
        <p:spPr>
          <a:xfrm>
            <a:off x="8423193" y="1152181"/>
            <a:ext cx="504565" cy="511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2843FB6-584C-F0C4-F66D-EDB6B3F579E9}"/>
              </a:ext>
            </a:extLst>
          </p:cNvPr>
          <p:cNvSpPr/>
          <p:nvPr/>
        </p:nvSpPr>
        <p:spPr>
          <a:xfrm>
            <a:off x="4324523" y="302739"/>
            <a:ext cx="504565" cy="511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A66E7F4-89E9-6D49-7A7A-067F581ED430}"/>
              </a:ext>
            </a:extLst>
          </p:cNvPr>
          <p:cNvSpPr/>
          <p:nvPr/>
        </p:nvSpPr>
        <p:spPr>
          <a:xfrm>
            <a:off x="4353355" y="1370139"/>
            <a:ext cx="504565" cy="511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1064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108820</TotalTime>
  <Words>626</Words>
  <Application>Microsoft Macintosh PowerPoint</Application>
  <PresentationFormat>Widescreen</PresentationFormat>
  <Paragraphs>157</Paragraphs>
  <Slides>40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6" baseType="lpstr">
      <vt:lpstr>Arial</vt:lpstr>
      <vt:lpstr>Calibri</vt:lpstr>
      <vt:lpstr>Calibri Light</vt:lpstr>
      <vt:lpstr>Courier New</vt:lpstr>
      <vt:lpstr>Ink Free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Rest Calls</dc:title>
  <dc:creator>Kesseler, Lada</dc:creator>
  <cp:lastModifiedBy>Lada Kesseler</cp:lastModifiedBy>
  <cp:revision>943</cp:revision>
  <dcterms:created xsi:type="dcterms:W3CDTF">2023-11-14T16:04:34Z</dcterms:created>
  <dcterms:modified xsi:type="dcterms:W3CDTF">2026-02-17T02:50:45Z</dcterms:modified>
</cp:coreProperties>
</file>